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266" r:id="rId3"/>
    <p:sldId id="262" r:id="rId4"/>
    <p:sldId id="267" r:id="rId5"/>
    <p:sldId id="264" r:id="rId6"/>
    <p:sldId id="263" r:id="rId7"/>
    <p:sldId id="268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8" r:id="rId23"/>
    <p:sldId id="303" r:id="rId24"/>
    <p:sldId id="290" r:id="rId25"/>
    <p:sldId id="307" r:id="rId26"/>
    <p:sldId id="292" r:id="rId27"/>
    <p:sldId id="306" r:id="rId28"/>
    <p:sldId id="293" r:id="rId29"/>
    <p:sldId id="294" r:id="rId30"/>
    <p:sldId id="291" r:id="rId31"/>
    <p:sldId id="295" r:id="rId32"/>
    <p:sldId id="296" r:id="rId33"/>
    <p:sldId id="300" r:id="rId34"/>
    <p:sldId id="301" r:id="rId35"/>
    <p:sldId id="297" r:id="rId36"/>
    <p:sldId id="302" r:id="rId37"/>
    <p:sldId id="299" r:id="rId38"/>
    <p:sldId id="298" r:id="rId39"/>
    <p:sldId id="289" r:id="rId40"/>
    <p:sldId id="305" r:id="rId41"/>
    <p:sldId id="308" r:id="rId42"/>
    <p:sldId id="309" r:id="rId4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6DC7AB0C-CA9E-4BB7-A16F-D94419E0EB00}">
          <p14:sldIdLst>
            <p14:sldId id="256"/>
            <p14:sldId id="266"/>
            <p14:sldId id="262"/>
            <p14:sldId id="267"/>
          </p14:sldIdLst>
        </p14:section>
        <p14:section name="1주차" id="{64FE573E-F57A-4C43-9760-77691F03EB6E}">
          <p14:sldIdLst>
            <p14:sldId id="264"/>
            <p14:sldId id="263"/>
            <p14:sldId id="268"/>
            <p14:sldId id="270"/>
            <p14:sldId id="271"/>
            <p14:sldId id="272"/>
          </p14:sldIdLst>
        </p14:section>
        <p14:section name="2주차" id="{E86E08D3-C40D-4682-A63B-AB727A8BE4E8}">
          <p14:sldIdLst>
            <p14:sldId id="273"/>
            <p14:sldId id="274"/>
            <p14:sldId id="275"/>
            <p14:sldId id="276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3주차" id="{93C68EA3-7766-42DA-8C6B-EC52ADE78EC3}">
          <p14:sldIdLst>
            <p14:sldId id="288"/>
            <p14:sldId id="303"/>
            <p14:sldId id="290"/>
            <p14:sldId id="307"/>
            <p14:sldId id="292"/>
            <p14:sldId id="306"/>
            <p14:sldId id="293"/>
            <p14:sldId id="294"/>
            <p14:sldId id="291"/>
            <p14:sldId id="295"/>
            <p14:sldId id="296"/>
            <p14:sldId id="300"/>
            <p14:sldId id="301"/>
            <p14:sldId id="297"/>
            <p14:sldId id="302"/>
            <p14:sldId id="299"/>
            <p14:sldId id="298"/>
          </p14:sldIdLst>
        </p14:section>
        <p14:section name="4주차" id="{271070FA-7EC8-4F1B-9E6F-EA2B489FBE42}">
          <p14:sldIdLst>
            <p14:sldId id="289"/>
            <p14:sldId id="305"/>
            <p14:sldId id="308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B1E1"/>
    <a:srgbClr val="4EA72E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75" d="100"/>
          <a:sy n="75" d="100"/>
        </p:scale>
        <p:origin x="1412" y="388"/>
      </p:cViewPr>
      <p:guideLst/>
    </p:cSldViewPr>
  </p:slideViewPr>
  <p:notesTextViewPr>
    <p:cViewPr>
      <p:scale>
        <a:sx n="25" d="100"/>
        <a:sy n="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421879-8690-45B9-B753-A8359804E075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F342E1-9CE3-4275-A1ED-D116BDB0C4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8365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342E1-9CE3-4275-A1ED-D116BDB0C4D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948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342E1-9CE3-4275-A1ED-D116BDB0C4D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73025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342E1-9CE3-4275-A1ED-D116BDB0C4D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4291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342E1-9CE3-4275-A1ED-D116BDB0C4D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4339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342E1-9CE3-4275-A1ED-D116BDB0C4D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68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342E1-9CE3-4275-A1ED-D116BDB0C4D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90875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342E1-9CE3-4275-A1ED-D116BDB0C4D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6442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342E1-9CE3-4275-A1ED-D116BDB0C4D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7666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342E1-9CE3-4275-A1ED-D116BDB0C4D7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87241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342E1-9CE3-4275-A1ED-D116BDB0C4D7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1114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342E1-9CE3-4275-A1ED-D116BDB0C4D7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4294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342E1-9CE3-4275-A1ED-D116BDB0C4D7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9500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342E1-9CE3-4275-A1ED-D116BDB0C4D7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6478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342E1-9CE3-4275-A1ED-D116BDB0C4D7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33270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342E1-9CE3-4275-A1ED-D116BDB0C4D7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47183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342E1-9CE3-4275-A1ED-D116BDB0C4D7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50433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F130D-22D6-85C1-29D5-05D3CD82C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72141D-2253-E01B-2859-630E9B6B9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274D2E-3D6A-7CBB-9F43-310DDC67D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5AA8F8-B493-6F3B-0BDD-960AB1D776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342E1-9CE3-4275-A1ED-D116BDB0C4D7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80444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342E1-9CE3-4275-A1ED-D116BDB0C4D7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56708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7A8E6-88E1-B47B-E437-C02818F20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1C92AB-861C-6CB6-3002-CBCB2A5F0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0AFF31-BB3A-8D1E-DBFA-E69CE434C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5AEC94-A93F-8FAF-A9DA-25AA99070E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342E1-9CE3-4275-A1ED-D116BDB0C4D7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0260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342E1-9CE3-4275-A1ED-D116BDB0C4D7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72315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A98A3-38D9-25E1-0FE0-E6489D31E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225D1D-2340-506A-6FF4-001F4EB563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332F5F-776A-1E25-103F-A703FFE3AB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CB1BB2-1596-69AE-7CE7-158D38F85D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342E1-9CE3-4275-A1ED-D116BDB0C4D7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4911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342E1-9CE3-4275-A1ED-D116BDB0C4D7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56150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342E1-9CE3-4275-A1ED-D116BDB0C4D7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9398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342E1-9CE3-4275-A1ED-D116BDB0C4D7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6366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342E1-9CE3-4275-A1ED-D116BDB0C4D7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9780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342E1-9CE3-4275-A1ED-D116BDB0C4D7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04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342E1-9CE3-4275-A1ED-D116BDB0C4D7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8531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342E1-9CE3-4275-A1ED-D116BDB0C4D7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951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342E1-9CE3-4275-A1ED-D116BDB0C4D7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77858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342E1-9CE3-4275-A1ED-D116BDB0C4D7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4599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342E1-9CE3-4275-A1ED-D116BDB0C4D7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77376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342E1-9CE3-4275-A1ED-D116BDB0C4D7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4061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342E1-9CE3-4275-A1ED-D116BDB0C4D7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627431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83CE8-C4B2-46B9-8DD3-02ECF0E92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BD5E1C-D031-C9CF-560B-B92481A040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D896B2-2AB6-757C-85C9-08AE99946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58E5CC-9C1F-F8CD-DA6E-F0B20192D2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342E1-9CE3-4275-A1ED-D116BDB0C4D7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351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20E983-F1B7-C34C-9897-B75C49441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D1D8108-14F7-AFD5-4E7E-948806AB4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5FB34-40A6-4CE7-9DFE-FA5824B2280C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040586D-BF2F-4D14-E3B2-C24636C43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ED4F2B2-F889-44B3-E58E-9D2872B38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669E-CE41-4D5A-9703-29D67973F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023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CB9F58-788E-B71B-1552-029192E8EB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EC54D6B-D524-F881-26CC-2252D661EE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8C2E15-86B9-7434-9863-5FE2068F6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5FB34-40A6-4CE7-9DFE-FA5824B2280C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7EC300-E1B6-8972-A03D-0A47CEFBD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5C7E5E-350B-B5BF-5D1E-9664C3575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669E-CE41-4D5A-9703-29D67973F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626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9E662D-D662-9892-FEC4-F37C5DDA4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B97B2E-7E45-6BC7-3EC7-49D54E8B2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81ECE7-04B5-172F-9EB0-FADEC217C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5FB34-40A6-4CE7-9DFE-FA5824B2280C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3187E2-70D4-5FBC-458A-069AD8229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D8565C-BFD5-229A-9593-1218419E5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669E-CE41-4D5A-9703-29D67973F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2025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9E662D-D662-9892-FEC4-F37C5DDA4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1132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B97B2E-7E45-6BC7-3EC7-49D54E8B2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2922"/>
            <a:ext cx="10515600" cy="437404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81ECE7-04B5-172F-9EB0-FADEC217C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5FB34-40A6-4CE7-9DFE-FA5824B2280C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3187E2-70D4-5FBC-458A-069AD8229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D8565C-BFD5-229A-9593-1218419E5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669E-CE41-4D5A-9703-29D67973F42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C0F3873F-C7ED-3D94-C6AC-31FCE9CA8A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105260"/>
            <a:ext cx="10515600" cy="438869"/>
          </a:xfrm>
        </p:spPr>
        <p:txBody>
          <a:bodyPr anchor="ctr">
            <a:noAutofit/>
          </a:bodyPr>
          <a:lstStyle>
            <a:lvl1pPr marL="0" indent="0">
              <a:buNone/>
              <a:defRPr sz="2800" b="1"/>
            </a:lvl1pPr>
          </a:lstStyle>
          <a:p>
            <a:pPr lvl="0"/>
            <a:r>
              <a:rPr lang="en-US" altLang="ko-KR" dirty="0"/>
              <a:t>: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8059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7735AB-5204-F4B3-946D-E5BD06FB7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402DE2-4F43-B136-EBAB-80CA5DD54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4E8AFC-547B-A615-DB3B-3E4FEE74D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5FB34-40A6-4CE7-9DFE-FA5824B2280C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8A0165-406E-9375-3380-B07B142CB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EE49CC-0B9E-D0B8-E11C-BF8D62E14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669E-CE41-4D5A-9703-29D67973F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786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9FB389-3CC1-B7DC-F188-7314D04EC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9189ED-B973-936E-BCA5-B920666066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17F3DF-F824-F131-7E73-F8055C27B8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C73C4E-CF51-E91E-9D26-DE92CD147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5FB34-40A6-4CE7-9DFE-FA5824B2280C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FE3210-8A45-8A59-0A5D-FDEA35848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F1861FA-9DA9-BDE3-BFBF-50D94586D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669E-CE41-4D5A-9703-29D67973F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359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91DACD-97D1-797C-D197-9CBDE3B33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C4D4E0-F7BB-1B06-CB1E-27CAF2759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26D1B3-6B4A-C1BF-1749-287EE8853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1AA69F0-E5A5-348D-1073-213FE2080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C05418-D9ED-5905-1D09-02E49A47A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3B86A7B-2B59-CF49-F842-108EED5D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5FB34-40A6-4CE7-9DFE-FA5824B2280C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76D51E7-C42A-34F5-DCAC-08DF56344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6309DC0-1517-9E18-71BD-7EB967296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669E-CE41-4D5A-9703-29D67973F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917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ACEC71-4DE2-A448-8C8A-F365DA716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1BF70E8-FE4C-BE2B-6E32-42192F3D4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5FB34-40A6-4CE7-9DFE-FA5824B2280C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61B6BAE-DB14-96C3-51AD-C1E1D3E4F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D6607AF-0E3F-AF01-F751-F70251F54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669E-CE41-4D5A-9703-29D67973F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172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EB30767-B1C3-B906-18CA-C3E3D55DD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5FB34-40A6-4CE7-9DFE-FA5824B2280C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11BB9C2-1F08-4B1B-6371-1FF4DA55C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62845E-07D3-8E59-273C-8A362A4BB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669E-CE41-4D5A-9703-29D67973F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54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77A317-5D36-F45D-1234-9B526B470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1ED963-4B7B-DB14-3E07-6F3E63085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AABB63-8ECF-5F4F-F8E4-AE4C0792F9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E0F917-1E91-FF32-074F-5F81AFDFD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5FB34-40A6-4CE7-9DFE-FA5824B2280C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C72DFE-2BD5-E9C8-C5F5-7086ECC82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10817A-93DB-D295-4511-5EB728B27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669E-CE41-4D5A-9703-29D67973F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2962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584D9C-0A8C-2884-FD5B-5FEC94EA4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21A82CD-F3E5-E5B2-5A6E-63633D22E0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FF344E-B578-2B5B-7794-0481D316A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A70160-217A-8876-073D-1434171D7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5FB34-40A6-4CE7-9DFE-FA5824B2280C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A15491-3389-E582-A019-FAD581609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DB618F-832E-F385-59BF-F4F67BC0E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669E-CE41-4D5A-9703-29D67973F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2398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106357-7A25-1F9E-EE68-A5299BDC0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513D54-D4CF-5B73-012B-80362117DA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85F61F-1AE1-6098-4F9B-D4ED77B95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5FB34-40A6-4CE7-9DFE-FA5824B2280C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04503A-71D0-DC23-382C-3F6674D12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D7708B-A7AC-87AE-0F7A-F2885E2D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669E-CE41-4D5A-9703-29D67973F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2373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71E2C21-92DA-A808-305F-F9B9C5DD71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8B1F3BA-9AA5-8E6B-A198-565353EB0A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C81129-EED5-3F8D-622E-D49904274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5FB34-40A6-4CE7-9DFE-FA5824B2280C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624D26-DA01-474C-872D-146831F03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90CD02-572C-6378-BC22-51C52C018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669E-CE41-4D5A-9703-29D67973F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6346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70623D4-0D2C-4AC8-50AD-FB34ED92A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2B651A-B084-DA71-D564-28DB28404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1B0776-0CB7-AC2E-8CCD-2B5F3C8F7A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85FB34-40A6-4CE7-9DFE-FA5824B2280C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A63EB9-9DED-C1DA-E28E-8BE3E2FC64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994545-C2CA-A13F-2899-828018015E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DA669E-CE41-4D5A-9703-29D67973F4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593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61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tart.spring.io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B68159-83A7-0A50-69A7-69ACCBFE15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JAVA </a:t>
            </a:r>
            <a:r>
              <a:rPr lang="ko-KR" altLang="en-US" dirty="0"/>
              <a:t>프로젝트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D158D15-F3D2-B659-2586-5F2D56F7A6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2024.08</a:t>
            </a:r>
          </a:p>
          <a:p>
            <a:r>
              <a:rPr lang="ko-KR" altLang="en-US" dirty="0"/>
              <a:t>최지윤</a:t>
            </a:r>
          </a:p>
        </p:txBody>
      </p:sp>
    </p:spTree>
    <p:extLst>
      <p:ext uri="{BB962C8B-B14F-4D97-AF65-F5344CB8AC3E}">
        <p14:creationId xmlns:p14="http://schemas.microsoft.com/office/powerpoint/2010/main" val="3171997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3036C-B43A-6DCB-E1FE-FE8564B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주제</a:t>
            </a:r>
            <a:r>
              <a:rPr lang="en-US" altLang="ko-KR" dirty="0"/>
              <a:t>&amp;</a:t>
            </a:r>
            <a:r>
              <a:rPr lang="ko-KR" altLang="en-US" dirty="0"/>
              <a:t>사용 데이터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073930-E78C-43A1-B5DD-05B1EB89C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주제 </a:t>
            </a:r>
            <a:r>
              <a:rPr lang="en-US" altLang="ko-KR" sz="2400" dirty="0"/>
              <a:t>: </a:t>
            </a:r>
            <a:r>
              <a:rPr lang="ko-KR" altLang="en-US" sz="2400" dirty="0"/>
              <a:t>코드 데이터 관리</a:t>
            </a:r>
            <a:endParaRPr lang="en-US" altLang="ko-KR" sz="2400" dirty="0"/>
          </a:p>
          <a:p>
            <a:r>
              <a:rPr lang="ko-KR" altLang="en-US" sz="2400" dirty="0"/>
              <a:t>사용 데이터 </a:t>
            </a:r>
            <a:r>
              <a:rPr lang="en-US" altLang="ko-KR" sz="2400" dirty="0"/>
              <a:t>: SWIT </a:t>
            </a:r>
            <a:r>
              <a:rPr lang="ko-KR" altLang="en-US" sz="2400" dirty="0"/>
              <a:t>코드 마스터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0538DBD-CC51-9D7F-E82F-ED9ECED2C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47" y="2852274"/>
            <a:ext cx="6649378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811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3036C-B43A-6DCB-E1FE-FE8564B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대상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073930-E78C-43A1-B5DD-05B1EB89C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JAVA(MVC </a:t>
            </a:r>
            <a:r>
              <a:rPr lang="ko-KR" altLang="en-US" dirty="0"/>
              <a:t>외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JAVA SPRINGBOOT</a:t>
            </a:r>
          </a:p>
          <a:p>
            <a:pPr lvl="1"/>
            <a:r>
              <a:rPr lang="en-US" altLang="ko-KR" dirty="0"/>
              <a:t>Model/view/controller</a:t>
            </a:r>
          </a:p>
          <a:p>
            <a:pPr lvl="1"/>
            <a:r>
              <a:rPr lang="ko-KR" altLang="en-US" dirty="0"/>
              <a:t>데이터 가져오는 라이브러리 </a:t>
            </a:r>
            <a:r>
              <a:rPr lang="en-US" altLang="ko-KR" dirty="0"/>
              <a:t>1</a:t>
            </a:r>
            <a:r>
              <a:rPr lang="ko-KR" altLang="en-US" dirty="0"/>
              <a:t>개 사용</a:t>
            </a:r>
            <a:endParaRPr lang="en-US" altLang="ko-KR" dirty="0"/>
          </a:p>
          <a:p>
            <a:r>
              <a:rPr lang="en-US" altLang="ko-KR" dirty="0"/>
              <a:t>API</a:t>
            </a:r>
          </a:p>
          <a:p>
            <a:r>
              <a:rPr lang="en-US" altLang="ko-KR" dirty="0" err="1"/>
              <a:t>Postgresql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2530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3D26589-6B97-4F8E-CCA5-0780CB93F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9854"/>
              </p:ext>
            </p:extLst>
          </p:nvPr>
        </p:nvGraphicFramePr>
        <p:xfrm>
          <a:off x="838199" y="1825625"/>
          <a:ext cx="10515600" cy="4012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2731">
                  <a:extLst>
                    <a:ext uri="{9D8B030D-6E8A-4147-A177-3AD203B41FA5}">
                      <a16:colId xmlns:a16="http://schemas.microsoft.com/office/drawing/2014/main" val="1518318429"/>
                    </a:ext>
                  </a:extLst>
                </a:gridCol>
                <a:gridCol w="8872869">
                  <a:extLst>
                    <a:ext uri="{9D8B030D-6E8A-4147-A177-3AD203B41FA5}">
                      <a16:colId xmlns:a16="http://schemas.microsoft.com/office/drawing/2014/main" val="3305735970"/>
                    </a:ext>
                  </a:extLst>
                </a:gridCol>
              </a:tblGrid>
              <a:tr h="6694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1809544"/>
                  </a:ext>
                </a:extLst>
              </a:tr>
              <a:tr h="8356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800" dirty="0"/>
                        <a:t>JAVA </a:t>
                      </a:r>
                      <a:r>
                        <a:rPr lang="ko-KR" altLang="en-US" sz="1800" dirty="0"/>
                        <a:t>개념 이해</a:t>
                      </a:r>
                      <a:r>
                        <a:rPr lang="en-US" altLang="ko-KR" sz="1800" dirty="0"/>
                        <a:t>&amp;</a:t>
                      </a:r>
                      <a:r>
                        <a:rPr lang="ko-KR" altLang="en-US" sz="1800" dirty="0"/>
                        <a:t>실습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6932596"/>
                  </a:ext>
                </a:extLst>
              </a:tr>
              <a:tr h="8356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800" dirty="0"/>
                        <a:t>JAVA </a:t>
                      </a:r>
                      <a:r>
                        <a:rPr lang="ko-KR" altLang="en-US" sz="1800" dirty="0"/>
                        <a:t>개념 이해</a:t>
                      </a:r>
                      <a:r>
                        <a:rPr lang="en-US" altLang="ko-KR" sz="1800" dirty="0"/>
                        <a:t>&amp;</a:t>
                      </a:r>
                      <a:r>
                        <a:rPr lang="ko-KR" altLang="en-US" sz="1800" dirty="0"/>
                        <a:t>실습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800" dirty="0"/>
                        <a:t>JAVA SPRINGBOOT</a:t>
                      </a:r>
                      <a:r>
                        <a:rPr lang="ko-KR" altLang="en-US" sz="1800" dirty="0"/>
                        <a:t> 개념 이해</a:t>
                      </a:r>
                      <a:r>
                        <a:rPr lang="en-US" altLang="ko-KR" sz="1800" dirty="0"/>
                        <a:t>&amp;</a:t>
                      </a:r>
                      <a:r>
                        <a:rPr lang="ko-KR" altLang="en-US" sz="1800" dirty="0"/>
                        <a:t>실습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7787919"/>
                  </a:ext>
                </a:extLst>
              </a:tr>
              <a:tr h="8356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dirty="0"/>
                        <a:t>API </a:t>
                      </a:r>
                      <a:r>
                        <a:rPr lang="ko-KR" altLang="en-US" sz="1800" dirty="0"/>
                        <a:t>개념 이해</a:t>
                      </a:r>
                      <a:r>
                        <a:rPr lang="en-US" altLang="ko-KR" sz="1800" dirty="0"/>
                        <a:t>&amp;</a:t>
                      </a:r>
                      <a:r>
                        <a:rPr lang="ko-KR" altLang="en-US" sz="1800" dirty="0"/>
                        <a:t>실습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0583988"/>
                  </a:ext>
                </a:extLst>
              </a:tr>
              <a:tr h="8356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dirty="0"/>
                        <a:t>통합 실습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4476722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2AE3036C-B43A-6DCB-E1FE-FE8564B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주차별</a:t>
            </a:r>
            <a:r>
              <a:rPr lang="ko-KR" altLang="en-US" dirty="0"/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3441040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3036C-B43A-6DCB-E1FE-FE8564B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주차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30909B-53BB-A414-EB29-F3688DC66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2921"/>
            <a:ext cx="10515600" cy="4689953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b="1" dirty="0"/>
              <a:t>개념</a:t>
            </a:r>
            <a:endParaRPr lang="en-US" altLang="ko-KR" b="1" dirty="0"/>
          </a:p>
          <a:p>
            <a:pPr lvl="1"/>
            <a:r>
              <a:rPr lang="ko-KR" altLang="en-US" dirty="0"/>
              <a:t>기본 문법 </a:t>
            </a:r>
            <a:r>
              <a:rPr lang="en-US" altLang="ko-KR" dirty="0"/>
              <a:t>– Package, class </a:t>
            </a:r>
            <a:r>
              <a:rPr lang="ko-KR" altLang="en-US" dirty="0"/>
              <a:t>외</a:t>
            </a:r>
          </a:p>
          <a:p>
            <a:pPr lvl="1"/>
            <a:r>
              <a:rPr lang="ko-KR" altLang="en-US" dirty="0"/>
              <a:t>자바 데이터 타입</a:t>
            </a:r>
            <a:r>
              <a:rPr lang="en-US" altLang="ko-KR" dirty="0"/>
              <a:t>(</a:t>
            </a:r>
            <a:r>
              <a:rPr lang="ko-KR" altLang="en-US" dirty="0"/>
              <a:t>기본형</a:t>
            </a:r>
            <a:r>
              <a:rPr lang="en-US" altLang="ko-KR" dirty="0"/>
              <a:t>, </a:t>
            </a:r>
            <a:r>
              <a:rPr lang="ko-KR" altLang="en-US" dirty="0"/>
              <a:t>객체형</a:t>
            </a:r>
            <a:r>
              <a:rPr lang="en-US" altLang="ko-KR" dirty="0"/>
              <a:t>, generic type, </a:t>
            </a:r>
            <a:r>
              <a:rPr lang="ko-KR" altLang="en-US" dirty="0"/>
              <a:t>라이브러리 사용용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OOP</a:t>
            </a:r>
          </a:p>
          <a:p>
            <a:pPr lvl="2"/>
            <a:r>
              <a:rPr lang="ko-KR" altLang="en-US" dirty="0"/>
              <a:t>접근제한자</a:t>
            </a:r>
            <a:r>
              <a:rPr lang="en-US" altLang="ko-KR" dirty="0"/>
              <a:t>(class type-OOP(</a:t>
            </a:r>
            <a:r>
              <a:rPr lang="en-US" altLang="ko-KR" dirty="0" err="1"/>
              <a:t>private,public,protected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.</a:t>
            </a:r>
            <a:r>
              <a:rPr lang="ko-KR" altLang="en-US" dirty="0"/>
              <a:t> 인터페이스</a:t>
            </a:r>
            <a:r>
              <a:rPr lang="en-US" altLang="ko-KR" dirty="0"/>
              <a:t>,</a:t>
            </a:r>
            <a:r>
              <a:rPr lang="ko-KR" altLang="en-US" dirty="0"/>
              <a:t>상속 관련</a:t>
            </a:r>
            <a:r>
              <a:rPr lang="en-US" altLang="ko-KR" dirty="0"/>
              <a:t>)</a:t>
            </a:r>
            <a:endParaRPr lang="ko-KR" altLang="en-US" dirty="0"/>
          </a:p>
          <a:p>
            <a:pPr lvl="2"/>
            <a:r>
              <a:rPr lang="ko-KR" altLang="en-US" dirty="0"/>
              <a:t>인터페이스</a:t>
            </a:r>
            <a:r>
              <a:rPr lang="en-US" altLang="ko-KR" dirty="0"/>
              <a:t>(implement), abstract class(extend) </a:t>
            </a:r>
            <a:endParaRPr lang="ko-KR" altLang="en-US" dirty="0"/>
          </a:p>
          <a:p>
            <a:pPr lvl="2"/>
            <a:r>
              <a:rPr lang="ko-KR" altLang="en-US" dirty="0"/>
              <a:t>상속</a:t>
            </a:r>
            <a:r>
              <a:rPr lang="en-US" altLang="ko-KR" dirty="0"/>
              <a:t>(inheritance-&gt;implement-abstract</a:t>
            </a:r>
            <a:r>
              <a:rPr lang="ko-KR" altLang="en-US" dirty="0"/>
              <a:t> </a:t>
            </a:r>
            <a:r>
              <a:rPr lang="en-US" altLang="ko-KR" dirty="0"/>
              <a:t>class</a:t>
            </a:r>
            <a:r>
              <a:rPr lang="ko-KR" altLang="en-US" dirty="0"/>
              <a:t> 연결</a:t>
            </a:r>
            <a:r>
              <a:rPr lang="en-US" altLang="ko-KR" dirty="0"/>
              <a:t>)</a:t>
            </a:r>
            <a:r>
              <a:rPr lang="ko-KR" altLang="en-US" dirty="0"/>
              <a:t>과 </a:t>
            </a:r>
            <a:r>
              <a:rPr lang="ko-KR" altLang="en-US" dirty="0" err="1"/>
              <a:t>다형성</a:t>
            </a:r>
            <a:endParaRPr lang="en-US" altLang="ko-KR" dirty="0"/>
          </a:p>
          <a:p>
            <a:pPr lvl="2"/>
            <a:r>
              <a:rPr lang="en-US" altLang="ko-KR" dirty="0"/>
              <a:t>Overriding, overloading</a:t>
            </a:r>
            <a:endParaRPr lang="ko-KR" altLang="en-US" dirty="0"/>
          </a:p>
          <a:p>
            <a:pPr lvl="1"/>
            <a:r>
              <a:rPr lang="ko-KR" altLang="en-US" dirty="0"/>
              <a:t>자바</a:t>
            </a:r>
            <a:r>
              <a:rPr lang="en-US" altLang="ko-KR" dirty="0" err="1"/>
              <a:t>api</a:t>
            </a:r>
            <a:r>
              <a:rPr lang="en-US" altLang="ko-KR" dirty="0"/>
              <a:t>(</a:t>
            </a:r>
            <a:r>
              <a:rPr lang="ko-KR" altLang="en-US" dirty="0" err="1"/>
              <a:t>유틸클래스</a:t>
            </a:r>
            <a:r>
              <a:rPr lang="en-US" altLang="ko-KR" dirty="0"/>
              <a:t>, </a:t>
            </a:r>
            <a:r>
              <a:rPr lang="ko-KR" altLang="en-US" dirty="0" err="1"/>
              <a:t>콜렉션</a:t>
            </a:r>
            <a:r>
              <a:rPr lang="en-US" altLang="ko-KR" dirty="0"/>
              <a:t>-</a:t>
            </a:r>
            <a:r>
              <a:rPr lang="en-US" altLang="ko-KR" dirty="0" err="1"/>
              <a:t>list,map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r>
              <a:rPr lang="ko-KR" altLang="en-US" b="1" dirty="0"/>
              <a:t>실습 </a:t>
            </a:r>
            <a:r>
              <a:rPr lang="en-US" altLang="ko-KR" b="1" dirty="0"/>
              <a:t>: DB </a:t>
            </a:r>
            <a:r>
              <a:rPr lang="ko-KR" altLang="en-US" b="1" dirty="0"/>
              <a:t>연결하여 데이터 처리하기</a:t>
            </a:r>
            <a:endParaRPr lang="en-US" altLang="ko-KR" b="1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sz="1800" dirty="0"/>
              <a:t>프로젝트 생성 및 환경 설정 </a:t>
            </a:r>
            <a:endParaRPr lang="en-US" altLang="ko-KR" sz="1800" dirty="0"/>
          </a:p>
          <a:p>
            <a:pPr lvl="1"/>
            <a:r>
              <a:rPr lang="ko-KR" altLang="en-US" sz="1400" dirty="0"/>
              <a:t>프로젝트 생성 </a:t>
            </a:r>
            <a:endParaRPr lang="en-US" altLang="ko-KR" sz="1400" dirty="0"/>
          </a:p>
          <a:p>
            <a:pPr lvl="1"/>
            <a:r>
              <a:rPr lang="ko-KR" altLang="en-US" sz="1400" dirty="0"/>
              <a:t>환경 설정 </a:t>
            </a:r>
            <a:r>
              <a:rPr lang="en-US" altLang="ko-KR" sz="1400" dirty="0"/>
              <a:t>: JDBC Driver </a:t>
            </a:r>
            <a:r>
              <a:rPr lang="ko-KR" altLang="en-US" sz="1400" dirty="0"/>
              <a:t>다운로드 </a:t>
            </a:r>
            <a:r>
              <a:rPr lang="en-US" altLang="ko-KR" sz="1400" dirty="0"/>
              <a:t>-&gt; </a:t>
            </a:r>
            <a:r>
              <a:rPr lang="ko-KR" altLang="en-US" sz="1400" dirty="0"/>
              <a:t>라이브러리 추가</a:t>
            </a:r>
            <a:endParaRPr lang="en-US" altLang="ko-KR" sz="1400" dirty="0"/>
          </a:p>
          <a:p>
            <a:pPr marL="457200" indent="-457200">
              <a:buFont typeface="+mj-lt"/>
              <a:buAutoNum type="arabicPeriod" startAt="2"/>
            </a:pPr>
            <a:r>
              <a:rPr lang="en-US" altLang="ko-KR" sz="1800" dirty="0"/>
              <a:t>DB</a:t>
            </a:r>
            <a:r>
              <a:rPr lang="ko-KR" altLang="en-US" sz="1800" dirty="0"/>
              <a:t>연결</a:t>
            </a:r>
            <a:r>
              <a:rPr lang="en-US" altLang="ko-KR" sz="1800" dirty="0"/>
              <a:t>(</a:t>
            </a:r>
            <a:r>
              <a:rPr lang="en-US" altLang="ko-KR" sz="1800" dirty="0" err="1"/>
              <a:t>Postgresql</a:t>
            </a:r>
            <a:r>
              <a:rPr lang="en-US" altLang="ko-KR" sz="1800" dirty="0"/>
              <a:t>) </a:t>
            </a:r>
            <a:r>
              <a:rPr lang="ko-KR" altLang="en-US" sz="1800" dirty="0"/>
              <a:t>및 처리 </a:t>
            </a:r>
            <a:endParaRPr lang="en-US" altLang="ko-KR" sz="1800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ko-KR" sz="1200" dirty="0"/>
              <a:t>DB </a:t>
            </a:r>
            <a:r>
              <a:rPr lang="ko-KR" altLang="en-US" sz="1200" dirty="0"/>
              <a:t>연결 </a:t>
            </a:r>
            <a:endParaRPr lang="en-US" altLang="ko-KR" sz="1200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ko-KR" sz="1200" dirty="0"/>
              <a:t>SELECT </a:t>
            </a:r>
            <a:r>
              <a:rPr lang="ko-KR" altLang="en-US" sz="1200" dirty="0"/>
              <a:t>쿼리 구현</a:t>
            </a:r>
            <a:endParaRPr lang="en-US" altLang="ko-KR" sz="160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C7A296-B2F6-3D67-59FA-42EDBF286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JAVA </a:t>
            </a:r>
            <a:r>
              <a:rPr lang="ko-KR" altLang="en-US" dirty="0"/>
              <a:t>개념 이해</a:t>
            </a:r>
            <a:r>
              <a:rPr lang="en-US" altLang="ko-KR" dirty="0"/>
              <a:t>&amp;</a:t>
            </a:r>
            <a:r>
              <a:rPr lang="ko-KR" altLang="en-US" dirty="0"/>
              <a:t>실습</a:t>
            </a:r>
          </a:p>
        </p:txBody>
      </p:sp>
    </p:spTree>
    <p:extLst>
      <p:ext uri="{BB962C8B-B14F-4D97-AF65-F5344CB8AC3E}">
        <p14:creationId xmlns:p14="http://schemas.microsoft.com/office/powerpoint/2010/main" val="3137585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3036C-B43A-6DCB-E1FE-FE8564B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주차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30909B-53BB-A414-EB29-F3688DC66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프로젝트 생성 및 환경 설정 </a:t>
            </a:r>
            <a:endParaRPr lang="en-US" altLang="ko-KR" dirty="0"/>
          </a:p>
          <a:p>
            <a:pPr lvl="1"/>
            <a:r>
              <a:rPr lang="ko-KR" altLang="en-US" sz="1600" dirty="0"/>
              <a:t>프로젝트 생성 </a:t>
            </a:r>
            <a:endParaRPr lang="en-US" altLang="ko-KR" sz="1600" dirty="0"/>
          </a:p>
          <a:p>
            <a:pPr lvl="1"/>
            <a:r>
              <a:rPr lang="ko-KR" altLang="en-US" sz="1600" dirty="0"/>
              <a:t>환경 설정 </a:t>
            </a:r>
            <a:r>
              <a:rPr lang="en-US" altLang="ko-KR" sz="1600" dirty="0"/>
              <a:t>: JDBC Driver </a:t>
            </a:r>
            <a:r>
              <a:rPr lang="ko-KR" altLang="en-US" sz="1600" dirty="0"/>
              <a:t>다운로드 </a:t>
            </a:r>
            <a:r>
              <a:rPr lang="en-US" altLang="ko-KR" sz="1600" dirty="0"/>
              <a:t>-&gt; </a:t>
            </a:r>
            <a:r>
              <a:rPr lang="ko-KR" altLang="en-US" sz="1600" dirty="0"/>
              <a:t>라이브러리 추가</a:t>
            </a:r>
            <a:endParaRPr lang="en-US" altLang="ko-KR" sz="1600" dirty="0"/>
          </a:p>
          <a:p>
            <a:pPr marL="457200" indent="-457200">
              <a:buFont typeface="+mj-lt"/>
              <a:buAutoNum type="arabicPeriod" startAt="2"/>
            </a:pPr>
            <a:r>
              <a:rPr lang="en-US" altLang="ko-KR" dirty="0"/>
              <a:t>DB</a:t>
            </a:r>
            <a:r>
              <a:rPr lang="ko-KR" altLang="en-US" dirty="0"/>
              <a:t>연결</a:t>
            </a:r>
            <a:r>
              <a:rPr lang="en-US" altLang="ko-KR" dirty="0"/>
              <a:t>(</a:t>
            </a:r>
            <a:r>
              <a:rPr lang="en-US" altLang="ko-KR" dirty="0" err="1"/>
              <a:t>Postgresql</a:t>
            </a:r>
            <a:r>
              <a:rPr lang="en-US" altLang="ko-KR" dirty="0"/>
              <a:t>) </a:t>
            </a:r>
            <a:r>
              <a:rPr lang="ko-KR" altLang="en-US" dirty="0"/>
              <a:t>및 처리 </a:t>
            </a:r>
            <a:endParaRPr lang="en-US" altLang="ko-KR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ko-KR" sz="1400" dirty="0"/>
              <a:t>DB </a:t>
            </a:r>
            <a:r>
              <a:rPr lang="ko-KR" altLang="en-US" sz="1400" dirty="0"/>
              <a:t>연결 </a:t>
            </a:r>
            <a:endParaRPr lang="en-US" altLang="ko-KR" sz="1400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ko-KR" sz="1400" dirty="0"/>
              <a:t>SELECT </a:t>
            </a:r>
            <a:r>
              <a:rPr lang="ko-KR" altLang="en-US" sz="1400" dirty="0"/>
              <a:t>쿼리 구현 </a:t>
            </a:r>
            <a:endParaRPr lang="en-US" altLang="ko-KR" sz="1800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C7A296-B2F6-3D67-59FA-42EDBF286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JAVA – </a:t>
            </a:r>
            <a:r>
              <a:rPr lang="ko-KR" altLang="en-US" dirty="0"/>
              <a:t>실습 </a:t>
            </a:r>
            <a:r>
              <a:rPr lang="en-US" altLang="ko-KR" dirty="0"/>
              <a:t>: DB </a:t>
            </a:r>
            <a:r>
              <a:rPr lang="ko-KR" altLang="en-US" dirty="0"/>
              <a:t>연결하여 데이터 처리하기</a:t>
            </a:r>
          </a:p>
        </p:txBody>
      </p:sp>
    </p:spTree>
    <p:extLst>
      <p:ext uri="{BB962C8B-B14F-4D97-AF65-F5344CB8AC3E}">
        <p14:creationId xmlns:p14="http://schemas.microsoft.com/office/powerpoint/2010/main" val="722521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3036C-B43A-6DCB-E1FE-FE8564B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주차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30909B-53BB-A414-EB29-F3688DC66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endParaRPr lang="en-US" altLang="ko-KR" dirty="0"/>
          </a:p>
          <a:p>
            <a:pPr lvl="1"/>
            <a:r>
              <a:rPr lang="en-US" altLang="ko-KR" dirty="0"/>
              <a:t>JAVA</a:t>
            </a:r>
            <a:r>
              <a:rPr lang="ko-KR" altLang="en-US" dirty="0"/>
              <a:t>로 데이터 </a:t>
            </a:r>
            <a:r>
              <a:rPr lang="en-US" altLang="ko-KR" dirty="0"/>
              <a:t>call 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C7A296-B2F6-3D67-59FA-42EDBF286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JAVA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DE3872A-502B-B411-0E74-58BC639F5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19" y="1802922"/>
            <a:ext cx="2457793" cy="347711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57B6A12-6E35-E2D0-E218-220347398318}"/>
              </a:ext>
            </a:extLst>
          </p:cNvPr>
          <p:cNvSpPr/>
          <p:nvPr/>
        </p:nvSpPr>
        <p:spPr>
          <a:xfrm>
            <a:off x="1190847" y="2707758"/>
            <a:ext cx="2346251" cy="165867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6117A8-97FB-7308-4D5E-1167CE029CAB}"/>
              </a:ext>
            </a:extLst>
          </p:cNvPr>
          <p:cNvSpPr txBox="1"/>
          <p:nvPr/>
        </p:nvSpPr>
        <p:spPr>
          <a:xfrm>
            <a:off x="3849818" y="1822558"/>
            <a:ext cx="684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Packages : </a:t>
            </a:r>
            <a:r>
              <a:rPr lang="ko-KR" altLang="en-US" dirty="0"/>
              <a:t>폴더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CDBD83E-462B-7631-6E62-AA526A628A46}"/>
              </a:ext>
            </a:extLst>
          </p:cNvPr>
          <p:cNvSpPr/>
          <p:nvPr/>
        </p:nvSpPr>
        <p:spPr>
          <a:xfrm>
            <a:off x="1750827" y="3181057"/>
            <a:ext cx="1658680" cy="1107407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6EEAC8-011E-75AD-56DF-12316307332D}"/>
              </a:ext>
            </a:extLst>
          </p:cNvPr>
          <p:cNvSpPr/>
          <p:nvPr/>
        </p:nvSpPr>
        <p:spPr>
          <a:xfrm>
            <a:off x="1750827" y="2987951"/>
            <a:ext cx="1658680" cy="152019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F21495-649F-BD2F-8A90-8A60D61529CD}"/>
              </a:ext>
            </a:extLst>
          </p:cNvPr>
          <p:cNvSpPr txBox="1"/>
          <p:nvPr/>
        </p:nvSpPr>
        <p:spPr>
          <a:xfrm>
            <a:off x="3849818" y="3181057"/>
            <a:ext cx="684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Interface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3ABE33-22D5-8E06-AFC7-BC2F2439FF78}"/>
              </a:ext>
            </a:extLst>
          </p:cNvPr>
          <p:cNvSpPr txBox="1"/>
          <p:nvPr/>
        </p:nvSpPr>
        <p:spPr>
          <a:xfrm>
            <a:off x="3896831" y="4146451"/>
            <a:ext cx="6840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Class : class, method, instance</a:t>
            </a:r>
            <a:r>
              <a:rPr lang="ko-KR" altLang="en-US" dirty="0"/>
              <a:t>를 포함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Class : </a:t>
            </a:r>
            <a:r>
              <a:rPr lang="ko-KR" altLang="en-US" dirty="0"/>
              <a:t>설계도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Method : </a:t>
            </a:r>
            <a:r>
              <a:rPr lang="ko-KR" altLang="en-US" dirty="0"/>
              <a:t>방식</a:t>
            </a:r>
            <a:r>
              <a:rPr lang="en-US" altLang="ko-KR" dirty="0"/>
              <a:t>(=function)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Instance : </a:t>
            </a:r>
            <a:r>
              <a:rPr lang="ko-KR" altLang="en-US" dirty="0"/>
              <a:t>객체  </a:t>
            </a:r>
            <a:r>
              <a:rPr lang="en-US" altLang="ko-KR" dirty="0"/>
              <a:t>   </a:t>
            </a:r>
            <a:endParaRPr lang="ko-KR" altLang="en-US" dirty="0"/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5CD737A5-67BB-1FFB-2732-20FDE6CA9BA3}"/>
              </a:ext>
            </a:extLst>
          </p:cNvPr>
          <p:cNvCxnSpPr>
            <a:cxnSpLocks/>
            <a:stCxn id="7" idx="0"/>
            <a:endCxn id="8" idx="1"/>
          </p:cNvCxnSpPr>
          <p:nvPr/>
        </p:nvCxnSpPr>
        <p:spPr>
          <a:xfrm rot="5400000" flipH="1" flipV="1">
            <a:off x="2756628" y="1614569"/>
            <a:ext cx="700534" cy="1485845"/>
          </a:xfrm>
          <a:prstGeom prst="bentConnector2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73D1F720-AA38-A38D-C0E1-8082ECD1A329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3409507" y="3063961"/>
            <a:ext cx="440311" cy="301762"/>
          </a:xfrm>
          <a:prstGeom prst="bentConnector3">
            <a:avLst>
              <a:gd name="adj1" fmla="val 50000"/>
            </a:avLst>
          </a:prstGeom>
          <a:ln>
            <a:solidFill>
              <a:srgbClr val="4EA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EAF632E4-3613-2A41-38A9-02E37ED7B54C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>
          <a:xfrm>
            <a:off x="3409507" y="3734761"/>
            <a:ext cx="487324" cy="1011855"/>
          </a:xfrm>
          <a:prstGeom prst="bentConnector3">
            <a:avLst>
              <a:gd name="adj1" fmla="val 50000"/>
            </a:avLst>
          </a:prstGeom>
          <a:ln>
            <a:solidFill>
              <a:srgbClr val="46B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2699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3036C-B43A-6DCB-E1FE-FE8564B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주차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30909B-53BB-A414-EB29-F3688DC66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자바 데이터 타입</a:t>
            </a:r>
            <a:endParaRPr lang="en-US" altLang="ko-KR" b="1" dirty="0"/>
          </a:p>
          <a:p>
            <a:pPr lvl="1"/>
            <a:r>
              <a:rPr lang="ko-KR" altLang="en-US" dirty="0"/>
              <a:t>기본형</a:t>
            </a:r>
            <a:r>
              <a:rPr lang="en-US" altLang="ko-KR" dirty="0"/>
              <a:t>(=</a:t>
            </a:r>
            <a:r>
              <a:rPr lang="ko-KR" altLang="en-US" dirty="0"/>
              <a:t>원시형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: Int </a:t>
            </a:r>
            <a:r>
              <a:rPr lang="ko-KR" altLang="en-US" dirty="0"/>
              <a:t>외</a:t>
            </a:r>
            <a:r>
              <a:rPr lang="en-US" altLang="ko-KR" dirty="0"/>
              <a:t> 	</a:t>
            </a:r>
          </a:p>
          <a:p>
            <a:pPr lvl="1"/>
            <a:r>
              <a:rPr lang="ko-KR" altLang="en-US" dirty="0"/>
              <a:t>객체형</a:t>
            </a:r>
            <a:r>
              <a:rPr lang="en-US" altLang="ko-KR" dirty="0"/>
              <a:t>(=</a:t>
            </a:r>
            <a:r>
              <a:rPr lang="ko-KR" altLang="en-US" dirty="0"/>
              <a:t>참조형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: String </a:t>
            </a:r>
            <a:r>
              <a:rPr lang="ko-KR" altLang="en-US" dirty="0"/>
              <a:t>외</a:t>
            </a:r>
            <a:endParaRPr lang="en-US" altLang="ko-KR" dirty="0"/>
          </a:p>
          <a:p>
            <a:pPr lvl="2"/>
            <a:r>
              <a:rPr lang="en-US" altLang="ko-KR" dirty="0"/>
              <a:t>= Instance</a:t>
            </a:r>
            <a:r>
              <a:rPr lang="ko-KR" altLang="en-US" dirty="0"/>
              <a:t>로</a:t>
            </a:r>
            <a:r>
              <a:rPr lang="en-US" altLang="ko-KR" dirty="0"/>
              <a:t>, </a:t>
            </a:r>
            <a:r>
              <a:rPr lang="ko-KR" altLang="en-US" dirty="0"/>
              <a:t>생성 시 메모리가 할당됨</a:t>
            </a:r>
            <a:endParaRPr lang="en-US" altLang="ko-KR" dirty="0"/>
          </a:p>
          <a:p>
            <a:pPr lvl="2"/>
            <a:r>
              <a:rPr lang="en-US" altLang="ko-KR" dirty="0"/>
              <a:t>{datatype} {</a:t>
            </a:r>
            <a:r>
              <a:rPr lang="ko-KR" altLang="en-US" dirty="0"/>
              <a:t>변수</a:t>
            </a:r>
            <a:r>
              <a:rPr lang="en-US" altLang="ko-KR" dirty="0"/>
              <a:t>}</a:t>
            </a:r>
            <a:r>
              <a:rPr lang="ko-KR" altLang="en-US" dirty="0"/>
              <a:t> </a:t>
            </a:r>
            <a:r>
              <a:rPr lang="en-US" altLang="ko-KR" dirty="0"/>
              <a:t>= new {class} </a:t>
            </a:r>
            <a:r>
              <a:rPr lang="ko-KR" altLang="en-US" dirty="0"/>
              <a:t>로 선언하여 사용</a:t>
            </a:r>
            <a:r>
              <a:rPr lang="en-US" altLang="ko-KR" dirty="0"/>
              <a:t>  </a:t>
            </a:r>
          </a:p>
          <a:p>
            <a:pPr lvl="1"/>
            <a:r>
              <a:rPr lang="en-US" altLang="ko-KR" dirty="0"/>
              <a:t>generic type</a:t>
            </a:r>
          </a:p>
          <a:p>
            <a:pPr lvl="1"/>
            <a:r>
              <a:rPr lang="ko-KR" altLang="en-US" dirty="0"/>
              <a:t>라이브러리 사용용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lvl="1"/>
            <a:r>
              <a:rPr lang="ko-KR" altLang="en-US" dirty="0"/>
              <a:t>기본형</a:t>
            </a:r>
            <a:r>
              <a:rPr lang="en-US" altLang="ko-KR" dirty="0"/>
              <a:t>/</a:t>
            </a:r>
            <a:r>
              <a:rPr lang="ko-KR" altLang="en-US" dirty="0"/>
              <a:t>객체형의 차이는 메모리 할당 방식 및 메모리 용량의 차이임</a:t>
            </a:r>
            <a:r>
              <a:rPr lang="en-US" altLang="ko-KR" dirty="0"/>
              <a:t>. </a:t>
            </a:r>
            <a:r>
              <a:rPr lang="ko-KR" altLang="en-US" dirty="0"/>
              <a:t>기본형은 메모리를 바로 </a:t>
            </a:r>
            <a:r>
              <a:rPr lang="ko-KR" altLang="en-US" dirty="0" err="1"/>
              <a:t>할당받고</a:t>
            </a:r>
            <a:r>
              <a:rPr lang="ko-KR" altLang="en-US" dirty="0"/>
              <a:t> 객체형은 메모리를 저장소에 할당하며 메모리 위치를 값으로 가지고 있음 </a:t>
            </a:r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C7A296-B2F6-3D67-59FA-42EDBF286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JAVA </a:t>
            </a:r>
            <a:r>
              <a:rPr lang="ko-KR" altLang="en-US" dirty="0"/>
              <a:t>개념 이해</a:t>
            </a:r>
            <a:r>
              <a:rPr lang="en-US" altLang="ko-KR" dirty="0"/>
              <a:t>&amp;</a:t>
            </a:r>
            <a:r>
              <a:rPr lang="ko-KR" altLang="en-US" dirty="0"/>
              <a:t>실습</a:t>
            </a:r>
          </a:p>
        </p:txBody>
      </p:sp>
    </p:spTree>
    <p:extLst>
      <p:ext uri="{BB962C8B-B14F-4D97-AF65-F5344CB8AC3E}">
        <p14:creationId xmlns:p14="http://schemas.microsoft.com/office/powerpoint/2010/main" val="1568609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3036C-B43A-6DCB-E1FE-FE8564B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주차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30909B-53BB-A414-EB29-F3688DC66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OOP</a:t>
            </a:r>
          </a:p>
          <a:p>
            <a:pPr lvl="1"/>
            <a:r>
              <a:rPr lang="ko-KR" altLang="en-US" b="1" dirty="0"/>
              <a:t>접근제한자</a:t>
            </a:r>
            <a:r>
              <a:rPr lang="en-US" altLang="ko-KR" dirty="0"/>
              <a:t>(class type-OOP) </a:t>
            </a:r>
          </a:p>
          <a:p>
            <a:pPr lvl="2"/>
            <a:r>
              <a:rPr lang="en-US" altLang="ko-KR" dirty="0"/>
              <a:t>Private/Public/Protected</a:t>
            </a:r>
            <a:r>
              <a:rPr lang="ko-KR" altLang="en-US" dirty="0"/>
              <a:t> </a:t>
            </a:r>
            <a:endParaRPr lang="en-US" altLang="ko-KR" dirty="0"/>
          </a:p>
          <a:p>
            <a:pPr lvl="2"/>
            <a:r>
              <a:rPr lang="ko-KR" altLang="en-US" dirty="0"/>
              <a:t>대상에 대해 접근할 수 있는 권한을 조정함 </a:t>
            </a:r>
            <a:endParaRPr lang="en-US" altLang="ko-KR" dirty="0"/>
          </a:p>
          <a:p>
            <a:pPr lvl="2"/>
            <a:r>
              <a:rPr lang="en-US" altLang="ko-KR" dirty="0"/>
              <a:t>Private : </a:t>
            </a:r>
            <a:r>
              <a:rPr lang="ko-KR" altLang="en-US" dirty="0"/>
              <a:t>다른 </a:t>
            </a:r>
            <a:r>
              <a:rPr lang="en-US" altLang="ko-KR" dirty="0"/>
              <a:t>class</a:t>
            </a:r>
            <a:r>
              <a:rPr lang="ko-KR" altLang="en-US" dirty="0"/>
              <a:t>에서 접근할 수 없음</a:t>
            </a:r>
            <a:r>
              <a:rPr lang="en-US" altLang="ko-KR" dirty="0"/>
              <a:t>(</a:t>
            </a:r>
            <a:r>
              <a:rPr lang="ko-KR" altLang="en-US" dirty="0"/>
              <a:t>해당 클래스에서만 사용 가능</a:t>
            </a:r>
            <a:r>
              <a:rPr lang="en-US" altLang="ko-KR" dirty="0"/>
              <a:t>) </a:t>
            </a:r>
          </a:p>
          <a:p>
            <a:pPr lvl="2"/>
            <a:r>
              <a:rPr lang="en-US" altLang="ko-KR" dirty="0"/>
              <a:t>Public : </a:t>
            </a:r>
            <a:r>
              <a:rPr lang="ko-KR" altLang="en-US" dirty="0"/>
              <a:t>다른 </a:t>
            </a:r>
            <a:r>
              <a:rPr lang="en-US" altLang="ko-KR" dirty="0"/>
              <a:t>class</a:t>
            </a:r>
            <a:r>
              <a:rPr lang="ko-KR" altLang="en-US" dirty="0"/>
              <a:t>에서 접근할 수 있음</a:t>
            </a:r>
            <a:r>
              <a:rPr lang="en-US" altLang="ko-KR" dirty="0"/>
              <a:t>(</a:t>
            </a:r>
            <a:r>
              <a:rPr lang="ko-KR" altLang="en-US" dirty="0"/>
              <a:t>다른 클래스에서 사용 가능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ko-KR" altLang="en-US" b="1" dirty="0"/>
              <a:t>인터페이스</a:t>
            </a:r>
            <a:r>
              <a:rPr lang="en-US" altLang="ko-KR" b="1" dirty="0"/>
              <a:t>(implement), abstract class(extend) </a:t>
            </a:r>
          </a:p>
          <a:p>
            <a:pPr lvl="2"/>
            <a:r>
              <a:rPr lang="ko-KR" altLang="en-US" dirty="0"/>
              <a:t>공통 규약을 인터페이스에 정의함 </a:t>
            </a:r>
            <a:endParaRPr lang="en-US" altLang="ko-KR" dirty="0"/>
          </a:p>
          <a:p>
            <a:pPr lvl="2"/>
            <a:r>
              <a:rPr lang="en-US" altLang="ko-KR" dirty="0"/>
              <a:t>Extend – Overloading</a:t>
            </a:r>
          </a:p>
          <a:p>
            <a:pPr lvl="2"/>
            <a:r>
              <a:rPr lang="ko-KR" altLang="en-US" dirty="0"/>
              <a:t>인터페이스 파일을 작성 후 </a:t>
            </a:r>
            <a:r>
              <a:rPr lang="en-US" altLang="ko-KR" dirty="0"/>
              <a:t>class</a:t>
            </a:r>
            <a:r>
              <a:rPr lang="ko-KR" altLang="en-US" dirty="0"/>
              <a:t>에서 </a:t>
            </a:r>
            <a:r>
              <a:rPr lang="en-US" altLang="ko-KR" dirty="0"/>
              <a:t>Implement </a:t>
            </a:r>
            <a:r>
              <a:rPr lang="ko-KR" altLang="en-US" dirty="0"/>
              <a:t>하여 사용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C7A296-B2F6-3D67-59FA-42EDBF286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JAVA </a:t>
            </a:r>
            <a:r>
              <a:rPr lang="ko-KR" altLang="en-US" dirty="0"/>
              <a:t>개념 이해</a:t>
            </a:r>
            <a:r>
              <a:rPr lang="en-US" altLang="ko-KR" dirty="0"/>
              <a:t>&amp;</a:t>
            </a:r>
            <a:r>
              <a:rPr lang="ko-KR" altLang="en-US" dirty="0"/>
              <a:t>실습</a:t>
            </a:r>
          </a:p>
        </p:txBody>
      </p:sp>
    </p:spTree>
    <p:extLst>
      <p:ext uri="{BB962C8B-B14F-4D97-AF65-F5344CB8AC3E}">
        <p14:creationId xmlns:p14="http://schemas.microsoft.com/office/powerpoint/2010/main" val="1458991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3036C-B43A-6DCB-E1FE-FE8564B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주차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30909B-53BB-A414-EB29-F3688DC66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OOP</a:t>
            </a:r>
          </a:p>
          <a:p>
            <a:pPr lvl="1"/>
            <a:r>
              <a:rPr lang="en-US" altLang="ko-KR" b="1" dirty="0"/>
              <a:t>Overloading/Overriding</a:t>
            </a:r>
          </a:p>
          <a:p>
            <a:pPr lvl="2"/>
            <a:r>
              <a:rPr lang="en-US" altLang="ko-KR" dirty="0"/>
              <a:t>Overloading : </a:t>
            </a:r>
            <a:r>
              <a:rPr lang="ko-KR" altLang="en-US" dirty="0"/>
              <a:t>확장</a:t>
            </a:r>
            <a:r>
              <a:rPr lang="en-US" altLang="ko-KR" dirty="0"/>
              <a:t>. </a:t>
            </a:r>
            <a:r>
              <a:rPr lang="ko-KR" altLang="en-US" dirty="0"/>
              <a:t>상속받은 속성과 추가한 속성을 모두 가지고 있음</a:t>
            </a:r>
            <a:endParaRPr lang="en-US" altLang="ko-KR" dirty="0"/>
          </a:p>
          <a:p>
            <a:pPr lvl="3"/>
            <a:r>
              <a:rPr lang="ko-KR" altLang="en-US" dirty="0"/>
              <a:t>속성이 여러 개일 때 </a:t>
            </a:r>
            <a:r>
              <a:rPr lang="en-US" altLang="ko-KR" dirty="0"/>
              <a:t>java</a:t>
            </a:r>
            <a:r>
              <a:rPr lang="ko-KR" altLang="en-US" dirty="0"/>
              <a:t>는 매개변수 개수</a:t>
            </a:r>
            <a:r>
              <a:rPr lang="en-US" altLang="ko-KR" dirty="0"/>
              <a:t>, </a:t>
            </a:r>
            <a:r>
              <a:rPr lang="ko-KR" altLang="en-US" dirty="0"/>
              <a:t>매개변수 순서대로 데이터 타입으로 구분하므로 매개변수 개수가 같을 시 순서대로 데이터 타입으로 구분함</a:t>
            </a:r>
            <a:r>
              <a:rPr lang="en-US" altLang="ko-KR" dirty="0"/>
              <a:t>. </a:t>
            </a:r>
            <a:r>
              <a:rPr lang="ko-KR" altLang="en-US" dirty="0"/>
              <a:t>다른 속성이라도 매개변수 개수</a:t>
            </a:r>
            <a:r>
              <a:rPr lang="en-US" altLang="ko-KR" dirty="0"/>
              <a:t>, </a:t>
            </a:r>
            <a:r>
              <a:rPr lang="ko-KR" altLang="en-US" dirty="0"/>
              <a:t>순서대로 데이터 타입이 같으면 같은 속성으로 인식함</a:t>
            </a:r>
            <a:r>
              <a:rPr lang="en-US" altLang="ko-KR" dirty="0"/>
              <a:t>. </a:t>
            </a:r>
            <a:r>
              <a:rPr lang="ko-KR" altLang="en-US" dirty="0"/>
              <a:t> </a:t>
            </a:r>
            <a:endParaRPr lang="en-US" altLang="ko-KR" dirty="0"/>
          </a:p>
          <a:p>
            <a:pPr lvl="2"/>
            <a:r>
              <a:rPr lang="en-US" altLang="ko-KR" dirty="0"/>
              <a:t>Overriding : </a:t>
            </a:r>
            <a:r>
              <a:rPr lang="ko-KR" altLang="en-US" dirty="0"/>
              <a:t>덮어씀</a:t>
            </a:r>
            <a:r>
              <a:rPr lang="en-US" altLang="ko-KR" dirty="0"/>
              <a:t>. 1</a:t>
            </a:r>
            <a:r>
              <a:rPr lang="ko-KR" altLang="en-US" dirty="0"/>
              <a:t>개의 속성만 가지고 있음</a:t>
            </a:r>
            <a:endParaRPr lang="en-US" altLang="ko-KR" dirty="0"/>
          </a:p>
          <a:p>
            <a:pPr lvl="2"/>
            <a:r>
              <a:rPr lang="ko-KR" altLang="en-US" dirty="0"/>
              <a:t>코드에서 </a:t>
            </a:r>
            <a:r>
              <a:rPr lang="en-US" altLang="ko-KR" dirty="0"/>
              <a:t>@Overload, @Override</a:t>
            </a:r>
            <a:r>
              <a:rPr lang="ko-KR" altLang="en-US" dirty="0"/>
              <a:t> 작성 시 시스템에서 체크함 </a:t>
            </a:r>
          </a:p>
          <a:p>
            <a:pPr lvl="1"/>
            <a:r>
              <a:rPr lang="ko-KR" altLang="en-US" b="1" dirty="0"/>
              <a:t>상속</a:t>
            </a:r>
            <a:r>
              <a:rPr lang="en-US" altLang="ko-KR" b="1" dirty="0"/>
              <a:t>(inheritance-&gt;implement-abstract</a:t>
            </a:r>
            <a:r>
              <a:rPr lang="ko-KR" altLang="en-US" b="1" dirty="0"/>
              <a:t> </a:t>
            </a:r>
            <a:r>
              <a:rPr lang="en-US" altLang="ko-KR" b="1" dirty="0"/>
              <a:t>class</a:t>
            </a:r>
            <a:r>
              <a:rPr lang="ko-KR" altLang="en-US" b="1" dirty="0"/>
              <a:t> 연결</a:t>
            </a:r>
            <a:r>
              <a:rPr lang="en-US" altLang="ko-KR" b="1" dirty="0"/>
              <a:t>)</a:t>
            </a:r>
            <a:r>
              <a:rPr lang="ko-KR" altLang="en-US" b="1" dirty="0"/>
              <a:t>과 </a:t>
            </a:r>
            <a:r>
              <a:rPr lang="ko-KR" altLang="en-US" b="1" dirty="0" err="1"/>
              <a:t>다형성</a:t>
            </a:r>
            <a:endParaRPr lang="en-US" altLang="ko-KR" b="1" dirty="0"/>
          </a:p>
          <a:p>
            <a:pPr lvl="2"/>
            <a:r>
              <a:rPr lang="ko-KR" altLang="en-US" dirty="0"/>
              <a:t>상속 </a:t>
            </a:r>
            <a:r>
              <a:rPr lang="en-US" altLang="ko-KR" dirty="0"/>
              <a:t>: </a:t>
            </a:r>
          </a:p>
          <a:p>
            <a:pPr lvl="2"/>
            <a:r>
              <a:rPr lang="ko-KR" altLang="en-US" dirty="0" err="1"/>
              <a:t>다형성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C7A296-B2F6-3D67-59FA-42EDBF286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JAVA </a:t>
            </a:r>
            <a:r>
              <a:rPr lang="ko-KR" altLang="en-US" dirty="0"/>
              <a:t>개념 이해</a:t>
            </a:r>
            <a:r>
              <a:rPr lang="en-US" altLang="ko-KR" dirty="0"/>
              <a:t>&amp;</a:t>
            </a:r>
            <a:r>
              <a:rPr lang="ko-KR" altLang="en-US" dirty="0"/>
              <a:t>실습</a:t>
            </a:r>
          </a:p>
        </p:txBody>
      </p:sp>
    </p:spTree>
    <p:extLst>
      <p:ext uri="{BB962C8B-B14F-4D97-AF65-F5344CB8AC3E}">
        <p14:creationId xmlns:p14="http://schemas.microsoft.com/office/powerpoint/2010/main" val="2792600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3036C-B43A-6DCB-E1FE-FE8564B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주차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30909B-53BB-A414-EB29-F3688DC66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1</a:t>
            </a:r>
            <a:r>
              <a:rPr lang="ko-KR" altLang="en-US" b="1" dirty="0"/>
              <a:t>주차 내용을 </a:t>
            </a:r>
            <a:r>
              <a:rPr lang="en-US" altLang="ko-KR" b="1" dirty="0" err="1"/>
              <a:t>JavaspringBoot</a:t>
            </a:r>
            <a:r>
              <a:rPr lang="ko-KR" altLang="en-US" b="1" dirty="0"/>
              <a:t>로 변환</a:t>
            </a:r>
            <a:endParaRPr lang="en-US" altLang="ko-KR" b="1" dirty="0"/>
          </a:p>
          <a:p>
            <a:r>
              <a:rPr lang="en-US" altLang="ko-KR" b="1" dirty="0" err="1"/>
              <a:t>JavaSpringBoot</a:t>
            </a:r>
            <a:r>
              <a:rPr lang="en-US" altLang="ko-KR" b="1" dirty="0"/>
              <a:t> “Hello world” </a:t>
            </a:r>
            <a:r>
              <a:rPr lang="ko-KR" altLang="en-US" b="1" dirty="0"/>
              <a:t>프로젝트 </a:t>
            </a:r>
            <a:endParaRPr lang="en-US" altLang="ko-KR" b="1" dirty="0"/>
          </a:p>
          <a:p>
            <a:r>
              <a:rPr lang="en-US" altLang="ko-KR" b="1" dirty="0" err="1"/>
              <a:t>Postgresql</a:t>
            </a:r>
            <a:r>
              <a:rPr lang="en-US" altLang="ko-KR" b="1" dirty="0"/>
              <a:t> </a:t>
            </a:r>
            <a:r>
              <a:rPr lang="ko-KR" altLang="en-US" b="1" dirty="0"/>
              <a:t>연계 </a:t>
            </a:r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C7A296-B2F6-3D67-59FA-42EDBF286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</a:t>
            </a:r>
            <a:r>
              <a:rPr lang="en-US" altLang="ko-KR" dirty="0" err="1"/>
              <a:t>JavaSpringBoot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499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3036C-B43A-6DCB-E1FE-FE8564B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주차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30909B-53BB-A414-EB29-F3688DC66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altLang="ko-KR" dirty="0" err="1"/>
              <a:t>JavaspringBoot</a:t>
            </a:r>
            <a:r>
              <a:rPr lang="en-US" altLang="ko-KR" dirty="0"/>
              <a:t> </a:t>
            </a:r>
            <a:r>
              <a:rPr lang="ko-KR" altLang="en-US" dirty="0"/>
              <a:t>설정 후 다운로드</a:t>
            </a:r>
            <a:endParaRPr lang="en-US" altLang="ko-KR" dirty="0"/>
          </a:p>
          <a:p>
            <a:pPr marL="457200" indent="-457200">
              <a:buAutoNum type="arabicPeriod"/>
            </a:pPr>
            <a:r>
              <a:rPr lang="en-US" altLang="ko-KR" dirty="0"/>
              <a:t>Gradle </a:t>
            </a:r>
            <a:r>
              <a:rPr lang="ko-KR" altLang="en-US" dirty="0"/>
              <a:t>다운로드 후 </a:t>
            </a:r>
            <a:r>
              <a:rPr lang="ko-KR" altLang="en-US" dirty="0" err="1"/>
              <a:t>임포트</a:t>
            </a:r>
            <a:r>
              <a:rPr lang="ko-KR" altLang="en-US" dirty="0"/>
              <a:t> </a:t>
            </a:r>
            <a:endParaRPr lang="en-US" altLang="ko-KR" dirty="0"/>
          </a:p>
          <a:p>
            <a:pPr marL="457200" indent="-457200">
              <a:buAutoNum type="arabicPeriod"/>
            </a:pPr>
            <a:r>
              <a:rPr lang="ko-KR" altLang="en-US" dirty="0"/>
              <a:t>프로젝트 구조 생성 </a:t>
            </a:r>
            <a:endParaRPr lang="en-US" altLang="ko-KR" dirty="0"/>
          </a:p>
          <a:p>
            <a:pPr marL="914400" lvl="1" indent="-457200">
              <a:buAutoNum type="arabicPeriod"/>
            </a:pPr>
            <a:r>
              <a:rPr lang="en-US" altLang="ko-KR" dirty="0"/>
              <a:t>Config</a:t>
            </a:r>
          </a:p>
          <a:p>
            <a:pPr marL="914400" lvl="1" indent="-457200">
              <a:buAutoNum type="arabicPeriod"/>
            </a:pPr>
            <a:r>
              <a:rPr lang="en-US" altLang="ko-KR" dirty="0"/>
              <a:t>Controller</a:t>
            </a:r>
          </a:p>
          <a:p>
            <a:pPr marL="914400" lvl="1" indent="-457200">
              <a:buAutoNum type="arabicPeriod"/>
            </a:pPr>
            <a:r>
              <a:rPr lang="en-US" altLang="ko-KR" dirty="0" err="1"/>
              <a:t>Dto</a:t>
            </a:r>
            <a:endParaRPr lang="en-US" altLang="ko-KR" dirty="0"/>
          </a:p>
          <a:p>
            <a:pPr marL="914400" lvl="1" indent="-457200">
              <a:buAutoNum type="arabicPeriod"/>
            </a:pPr>
            <a:r>
              <a:rPr lang="en-US" altLang="ko-KR" dirty="0"/>
              <a:t>Model</a:t>
            </a:r>
          </a:p>
          <a:p>
            <a:pPr marL="914400" lvl="1" indent="-457200">
              <a:buAutoNum type="arabicPeriod"/>
            </a:pPr>
            <a:r>
              <a:rPr lang="en-US" altLang="ko-KR" dirty="0"/>
              <a:t>Repository</a:t>
            </a:r>
          </a:p>
          <a:p>
            <a:pPr marL="914400" lvl="1" indent="-457200">
              <a:buAutoNum type="arabicPeriod"/>
            </a:pPr>
            <a:r>
              <a:rPr lang="en-US" altLang="ko-KR" dirty="0"/>
              <a:t>Service</a:t>
            </a:r>
          </a:p>
          <a:p>
            <a:pPr marL="457200" indent="-457200">
              <a:buAutoNum type="arabicPeriod"/>
            </a:pPr>
            <a:r>
              <a:rPr lang="en-US" altLang="ko-KR" dirty="0"/>
              <a:t>Run project</a:t>
            </a:r>
          </a:p>
          <a:p>
            <a:pPr marL="457200" indent="-457200">
              <a:buAutoNum type="arabicPeriod"/>
            </a:pPr>
            <a:r>
              <a:rPr lang="en-US" altLang="ko-KR" dirty="0"/>
              <a:t>Postman </a:t>
            </a:r>
            <a:r>
              <a:rPr lang="ko-KR" altLang="en-US" dirty="0"/>
              <a:t>사용하여 </a:t>
            </a:r>
            <a:r>
              <a:rPr lang="en-US" altLang="ko-KR" dirty="0" err="1"/>
              <a:t>api</a:t>
            </a:r>
            <a:r>
              <a:rPr lang="en-US" altLang="ko-KR" dirty="0"/>
              <a:t> </a:t>
            </a:r>
            <a:r>
              <a:rPr lang="ko-KR" altLang="en-US" dirty="0"/>
              <a:t>테스트</a:t>
            </a:r>
            <a:endParaRPr lang="en-US" altLang="ko-KR" dirty="0"/>
          </a:p>
          <a:p>
            <a:pPr marL="914400" lvl="1" indent="-457200">
              <a:buAutoNum type="arabicPeriod"/>
            </a:pPr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C7A296-B2F6-3D67-59FA-42EDBF286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1</a:t>
            </a:r>
            <a:r>
              <a:rPr lang="ko-KR" altLang="en-US" dirty="0"/>
              <a:t>주차 내용을 </a:t>
            </a:r>
            <a:r>
              <a:rPr lang="en-US" altLang="ko-KR" dirty="0" err="1"/>
              <a:t>JavaspringBoot</a:t>
            </a:r>
            <a:r>
              <a:rPr lang="ko-KR" altLang="en-US" dirty="0"/>
              <a:t>로 구현 </a:t>
            </a:r>
          </a:p>
        </p:txBody>
      </p:sp>
    </p:spTree>
    <p:extLst>
      <p:ext uri="{BB962C8B-B14F-4D97-AF65-F5344CB8AC3E}">
        <p14:creationId xmlns:p14="http://schemas.microsoft.com/office/powerpoint/2010/main" val="1605268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3036C-B43A-6DCB-E1FE-FE8564B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주차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30909B-53BB-A414-EB29-F3688DC66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altLang="ko-KR" dirty="0" err="1"/>
              <a:t>JavaspringBoot</a:t>
            </a:r>
            <a:r>
              <a:rPr lang="en-US" altLang="ko-KR" dirty="0"/>
              <a:t> </a:t>
            </a:r>
            <a:r>
              <a:rPr lang="ko-KR" altLang="en-US" dirty="0"/>
              <a:t>설정 후 다운로드</a:t>
            </a:r>
            <a:r>
              <a:rPr lang="en-US" altLang="ko-KR" dirty="0"/>
              <a:t>(</a:t>
            </a:r>
            <a:r>
              <a:rPr lang="en-US" altLang="ko-KR" dirty="0">
                <a:hlinkClick r:id="rId3"/>
              </a:rPr>
              <a:t>https://start.spring.io/</a:t>
            </a:r>
            <a:r>
              <a:rPr lang="en-US" altLang="ko-KR" dirty="0"/>
              <a:t>)	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C7A296-B2F6-3D67-59FA-42EDBF286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1</a:t>
            </a:r>
            <a:r>
              <a:rPr lang="ko-KR" altLang="en-US" dirty="0"/>
              <a:t>주차 내용을 </a:t>
            </a:r>
            <a:r>
              <a:rPr lang="en-US" altLang="ko-KR" dirty="0" err="1"/>
              <a:t>JavaspringBoot</a:t>
            </a:r>
            <a:r>
              <a:rPr lang="ko-KR" altLang="en-US" dirty="0"/>
              <a:t>로 구현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0CC6CFA-3509-E007-54F1-824D2D68A2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114" y="2234597"/>
            <a:ext cx="7246248" cy="425827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86607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3036C-B43A-6DCB-E1FE-FE8564B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주차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30909B-53BB-A414-EB29-F3688DC66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altLang="ko-KR" dirty="0"/>
              <a:t>Gradle </a:t>
            </a:r>
            <a:r>
              <a:rPr lang="ko-KR" altLang="en-US" dirty="0"/>
              <a:t>다운로드 후 </a:t>
            </a:r>
            <a:r>
              <a:rPr lang="ko-KR" altLang="en-US" dirty="0" err="1"/>
              <a:t>임포트</a:t>
            </a:r>
            <a:endParaRPr lang="en-US" altLang="ko-KR" dirty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dirty="0"/>
              <a:t>버전 </a:t>
            </a:r>
            <a:r>
              <a:rPr lang="en-US" altLang="ko-KR" dirty="0"/>
              <a:t>: v.7.6.4</a:t>
            </a:r>
          </a:p>
          <a:p>
            <a:pPr marL="914400" lvl="1" indent="-457200">
              <a:buFont typeface="+mj-lt"/>
              <a:buAutoNum type="arabicPeriod"/>
            </a:pPr>
            <a:r>
              <a:rPr lang="ko-KR" altLang="en-US" dirty="0" err="1"/>
              <a:t>임포트</a:t>
            </a:r>
            <a:r>
              <a:rPr lang="ko-KR" altLang="en-US" dirty="0"/>
              <a:t> 방법 </a:t>
            </a:r>
            <a:r>
              <a:rPr lang="en-US" altLang="ko-KR" dirty="0"/>
              <a:t>: file – settings – build~ - build tools – </a:t>
            </a:r>
            <a:r>
              <a:rPr lang="en-US" altLang="ko-KR" dirty="0" err="1"/>
              <a:t>gradle</a:t>
            </a:r>
            <a:r>
              <a:rPr lang="en-US" altLang="ko-KR" dirty="0"/>
              <a:t> – </a:t>
            </a:r>
            <a:r>
              <a:rPr lang="ko-KR" altLang="en-US" dirty="0"/>
              <a:t>다운로드 받아 압축 푼 </a:t>
            </a:r>
            <a:r>
              <a:rPr lang="en-US" altLang="ko-KR" dirty="0" err="1"/>
              <a:t>gradle</a:t>
            </a:r>
            <a:r>
              <a:rPr lang="en-US" altLang="ko-KR" dirty="0"/>
              <a:t> </a:t>
            </a:r>
            <a:r>
              <a:rPr lang="ko-KR" altLang="en-US" dirty="0"/>
              <a:t>파일 불러오기</a:t>
            </a:r>
            <a:r>
              <a:rPr lang="en-US" altLang="ko-KR" dirty="0"/>
              <a:t>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C7A296-B2F6-3D67-59FA-42EDBF286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1</a:t>
            </a:r>
            <a:r>
              <a:rPr lang="ko-KR" altLang="en-US" dirty="0"/>
              <a:t>주차 내용을 </a:t>
            </a:r>
            <a:r>
              <a:rPr lang="en-US" altLang="ko-KR" dirty="0" err="1"/>
              <a:t>JavaspringBoot</a:t>
            </a:r>
            <a:r>
              <a:rPr lang="ko-KR" altLang="en-US" dirty="0"/>
              <a:t>로 구현 </a:t>
            </a:r>
          </a:p>
        </p:txBody>
      </p:sp>
    </p:spTree>
    <p:extLst>
      <p:ext uri="{BB962C8B-B14F-4D97-AF65-F5344CB8AC3E}">
        <p14:creationId xmlns:p14="http://schemas.microsoft.com/office/powerpoint/2010/main" val="2197471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3036C-B43A-6DCB-E1FE-FE8564B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주차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30909B-53BB-A414-EB29-F3688DC66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ko-KR" altLang="en-US" dirty="0"/>
              <a:t>프로젝트 구조 생성</a:t>
            </a:r>
            <a:endParaRPr lang="en-US" altLang="ko-KR" dirty="0"/>
          </a:p>
          <a:p>
            <a:pPr lvl="1"/>
            <a:r>
              <a:rPr lang="en-US" altLang="ko-KR" dirty="0"/>
              <a:t>Controller</a:t>
            </a:r>
          </a:p>
          <a:p>
            <a:pPr lvl="1"/>
            <a:r>
              <a:rPr lang="en-US" altLang="ko-KR" dirty="0" err="1"/>
              <a:t>Dto</a:t>
            </a:r>
            <a:endParaRPr lang="en-US" altLang="ko-KR" dirty="0"/>
          </a:p>
          <a:p>
            <a:pPr lvl="1"/>
            <a:r>
              <a:rPr lang="en-US" altLang="ko-KR" dirty="0"/>
              <a:t>Model</a:t>
            </a:r>
          </a:p>
          <a:p>
            <a:pPr lvl="1"/>
            <a:r>
              <a:rPr lang="en-US" altLang="ko-KR" dirty="0"/>
              <a:t>Repository</a:t>
            </a:r>
          </a:p>
          <a:p>
            <a:pPr lvl="1"/>
            <a:r>
              <a:rPr lang="en-US" altLang="ko-KR" dirty="0"/>
              <a:t>Service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C7A296-B2F6-3D67-59FA-42EDBF286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1</a:t>
            </a:r>
            <a:r>
              <a:rPr lang="ko-KR" altLang="en-US" dirty="0"/>
              <a:t>주차 내용을 </a:t>
            </a:r>
            <a:r>
              <a:rPr lang="en-US" altLang="ko-KR" dirty="0" err="1"/>
              <a:t>JavaspringBoot</a:t>
            </a:r>
            <a:r>
              <a:rPr lang="ko-KR" altLang="en-US" dirty="0"/>
              <a:t>로 구현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D28DE66-6627-4D22-42C0-D3FE8298B120}"/>
              </a:ext>
            </a:extLst>
          </p:cNvPr>
          <p:cNvSpPr/>
          <p:nvPr/>
        </p:nvSpPr>
        <p:spPr>
          <a:xfrm>
            <a:off x="8349133" y="2668404"/>
            <a:ext cx="1480871" cy="61000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Model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41C9D87-60C3-8BC7-4E11-C76E84555F9D}"/>
              </a:ext>
            </a:extLst>
          </p:cNvPr>
          <p:cNvSpPr/>
          <p:nvPr/>
        </p:nvSpPr>
        <p:spPr>
          <a:xfrm>
            <a:off x="7397283" y="1802922"/>
            <a:ext cx="1480871" cy="61000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Repository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92A879E-D8E8-E723-B910-210734931789}"/>
              </a:ext>
            </a:extLst>
          </p:cNvPr>
          <p:cNvSpPr/>
          <p:nvPr/>
        </p:nvSpPr>
        <p:spPr>
          <a:xfrm>
            <a:off x="7397283" y="3510045"/>
            <a:ext cx="1480871" cy="61000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Service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2D2BB49-FA17-1FEC-8635-5832AA454439}"/>
              </a:ext>
            </a:extLst>
          </p:cNvPr>
          <p:cNvSpPr/>
          <p:nvPr/>
        </p:nvSpPr>
        <p:spPr>
          <a:xfrm>
            <a:off x="8349134" y="4347819"/>
            <a:ext cx="1480871" cy="61000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Dto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0170950-A610-F4D7-8EEC-EA4BF1282449}"/>
              </a:ext>
            </a:extLst>
          </p:cNvPr>
          <p:cNvSpPr/>
          <p:nvPr/>
        </p:nvSpPr>
        <p:spPr>
          <a:xfrm>
            <a:off x="7397283" y="5217168"/>
            <a:ext cx="1480871" cy="61000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Controller</a:t>
            </a:r>
            <a:endParaRPr lang="ko-KR" altLang="en-US" dirty="0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10CC0017-7438-2189-2D71-609215F51F35}"/>
              </a:ext>
            </a:extLst>
          </p:cNvPr>
          <p:cNvCxnSpPr>
            <a:stCxn id="6" idx="2"/>
          </p:cNvCxnSpPr>
          <p:nvPr/>
        </p:nvCxnSpPr>
        <p:spPr>
          <a:xfrm flipH="1">
            <a:off x="8137718" y="2412924"/>
            <a:ext cx="1" cy="107093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19D72618-AAC0-E8AE-6573-2669C42ED2A3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8137719" y="4120047"/>
            <a:ext cx="0" cy="10971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120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3036C-B43A-6DCB-E1FE-FE8564B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주차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30909B-53BB-A414-EB29-F3688DC66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Repository</a:t>
            </a:r>
          </a:p>
          <a:p>
            <a:pPr lvl="1"/>
            <a:r>
              <a:rPr lang="en-US" altLang="ko-KR" dirty="0"/>
              <a:t>Interface</a:t>
            </a:r>
            <a:r>
              <a:rPr lang="ko-KR" altLang="en-US" dirty="0"/>
              <a:t> 파일</a:t>
            </a:r>
            <a:endParaRPr lang="en-US" altLang="ko-KR" dirty="0"/>
          </a:p>
          <a:p>
            <a:pPr lvl="1"/>
            <a:r>
              <a:rPr lang="ko-KR" altLang="en-US" dirty="0"/>
              <a:t>필요한 </a:t>
            </a:r>
            <a:r>
              <a:rPr lang="en-US" altLang="ko-KR" dirty="0"/>
              <a:t>Annotation </a:t>
            </a:r>
            <a:r>
              <a:rPr lang="ko-KR" altLang="en-US" dirty="0"/>
              <a:t>선언</a:t>
            </a:r>
            <a:endParaRPr lang="en-US" altLang="ko-KR" dirty="0"/>
          </a:p>
          <a:p>
            <a:pPr lvl="1"/>
            <a:r>
              <a:rPr lang="en-US" altLang="ko-KR" dirty="0"/>
              <a:t>Extends </a:t>
            </a:r>
            <a:r>
              <a:rPr lang="ko-KR" altLang="en-US" dirty="0"/>
              <a:t>로 </a:t>
            </a:r>
            <a:r>
              <a:rPr lang="en-US" altLang="ko-KR" dirty="0" err="1"/>
              <a:t>activitycode</a:t>
            </a:r>
            <a:r>
              <a:rPr lang="en-US" altLang="ko-KR" dirty="0"/>
              <a:t> </a:t>
            </a:r>
            <a:r>
              <a:rPr lang="ko-KR" altLang="en-US" dirty="0"/>
              <a:t>변수 선언</a:t>
            </a:r>
            <a:endParaRPr lang="en-US" altLang="ko-KR" dirty="0"/>
          </a:p>
          <a:p>
            <a:pPr marL="1371600" lvl="2" indent="-457200">
              <a:buAutoNum type="arabicPeriod"/>
            </a:pPr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C7A296-B2F6-3D67-59FA-42EDBF286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1</a:t>
            </a:r>
            <a:r>
              <a:rPr lang="ko-KR" altLang="en-US" dirty="0"/>
              <a:t>주차 내용을 </a:t>
            </a:r>
            <a:r>
              <a:rPr lang="en-US" altLang="ko-KR" dirty="0" err="1"/>
              <a:t>JavaspringBoot</a:t>
            </a:r>
            <a:r>
              <a:rPr lang="ko-KR" altLang="en-US" dirty="0"/>
              <a:t>로 구현 </a:t>
            </a: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02499DCD-42E0-D00E-185C-5472C58EB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089" y="3613646"/>
            <a:ext cx="6651110" cy="213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7707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3036C-B43A-6DCB-E1FE-FE8564B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주차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30909B-53BB-A414-EB29-F3688DC66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2922"/>
            <a:ext cx="5741709" cy="4374042"/>
          </a:xfrm>
        </p:spPr>
        <p:txBody>
          <a:bodyPr/>
          <a:lstStyle/>
          <a:p>
            <a:r>
              <a:rPr lang="en-US" altLang="ko-KR" b="1" dirty="0"/>
              <a:t>Model</a:t>
            </a:r>
          </a:p>
          <a:p>
            <a:pPr lvl="1"/>
            <a:r>
              <a:rPr lang="ko-KR" altLang="en-US" dirty="0"/>
              <a:t>데이터를 넣을 구조 생성 </a:t>
            </a:r>
            <a:endParaRPr lang="en-US" altLang="ko-KR" dirty="0"/>
          </a:p>
          <a:p>
            <a:pPr lvl="1"/>
            <a:r>
              <a:rPr lang="ko-KR" altLang="en-US" dirty="0"/>
              <a:t>필요한 </a:t>
            </a:r>
            <a:r>
              <a:rPr lang="en-US" altLang="ko-KR" dirty="0"/>
              <a:t>Annotation </a:t>
            </a:r>
            <a:r>
              <a:rPr lang="ko-KR" altLang="en-US" dirty="0"/>
              <a:t>선언 </a:t>
            </a:r>
            <a:endParaRPr lang="en-US" altLang="ko-KR" dirty="0"/>
          </a:p>
          <a:p>
            <a:pPr lvl="2"/>
            <a:r>
              <a:rPr lang="en-US" altLang="ko-KR" dirty="0"/>
              <a:t>Getter : private</a:t>
            </a:r>
            <a:r>
              <a:rPr lang="ko-KR" altLang="en-US" dirty="0"/>
              <a:t> 데이터를 외부에서 사용</a:t>
            </a:r>
            <a:endParaRPr lang="en-US" altLang="ko-KR" dirty="0"/>
          </a:p>
          <a:p>
            <a:pPr lvl="2"/>
            <a:r>
              <a:rPr lang="en-US" altLang="ko-KR" dirty="0"/>
              <a:t>Setter : private </a:t>
            </a:r>
            <a:r>
              <a:rPr lang="ko-KR" altLang="en-US" dirty="0"/>
              <a:t>데이터를 외부에서 세팅</a:t>
            </a:r>
            <a:endParaRPr lang="en-US" altLang="ko-KR" dirty="0"/>
          </a:p>
          <a:p>
            <a:pPr lvl="2"/>
            <a:r>
              <a:rPr lang="en-US" altLang="ko-KR" dirty="0"/>
              <a:t>Entity : DB</a:t>
            </a:r>
            <a:r>
              <a:rPr lang="ko-KR" altLang="en-US" dirty="0"/>
              <a:t>와 연결함</a:t>
            </a:r>
            <a:endParaRPr lang="en-US" altLang="ko-KR" dirty="0"/>
          </a:p>
          <a:p>
            <a:pPr lvl="2"/>
            <a:r>
              <a:rPr lang="en-US" altLang="ko-KR" dirty="0" err="1"/>
              <a:t>ToString</a:t>
            </a:r>
            <a:r>
              <a:rPr lang="en-US" altLang="ko-KR" dirty="0"/>
              <a:t> : string</a:t>
            </a:r>
            <a:r>
              <a:rPr lang="ko-KR" altLang="en-US" dirty="0"/>
              <a:t>으로 선언하여 데이터의 메모리</a:t>
            </a:r>
            <a:r>
              <a:rPr lang="en-US" altLang="ko-KR" dirty="0"/>
              <a:t> </a:t>
            </a:r>
            <a:r>
              <a:rPr lang="ko-KR" altLang="en-US" dirty="0"/>
              <a:t>값이 아닌 </a:t>
            </a:r>
            <a:r>
              <a:rPr lang="ko-KR" altLang="en-US" dirty="0" err="1"/>
              <a:t>대상값을</a:t>
            </a:r>
            <a:r>
              <a:rPr lang="ko-KR" altLang="en-US" dirty="0"/>
              <a:t> 출력</a:t>
            </a:r>
            <a:endParaRPr lang="en-US" altLang="ko-KR" dirty="0"/>
          </a:p>
          <a:p>
            <a:pPr lvl="2"/>
            <a:r>
              <a:rPr lang="en-US" altLang="ko-KR" dirty="0"/>
              <a:t>Builder : </a:t>
            </a:r>
            <a:r>
              <a:rPr lang="ko-KR" altLang="en-US" dirty="0"/>
              <a:t>초기값 세팅 및 인스턴스를 </a:t>
            </a:r>
            <a:r>
              <a:rPr lang="ko-KR" altLang="en-US" dirty="0" err="1"/>
              <a:t>리턴함</a:t>
            </a:r>
            <a:endParaRPr lang="en-US" altLang="ko-KR" dirty="0"/>
          </a:p>
          <a:p>
            <a:pPr lvl="2"/>
            <a:r>
              <a:rPr lang="en-US" altLang="ko-KR" dirty="0" err="1"/>
              <a:t>NoArgsConstructor</a:t>
            </a:r>
            <a:r>
              <a:rPr lang="en-US" altLang="ko-KR" dirty="0"/>
              <a:t> : </a:t>
            </a:r>
            <a:r>
              <a:rPr lang="ko-KR" altLang="en-US" dirty="0"/>
              <a:t>해당 </a:t>
            </a:r>
            <a:r>
              <a:rPr lang="en-US" altLang="ko-KR" dirty="0"/>
              <a:t>class</a:t>
            </a:r>
            <a:r>
              <a:rPr lang="ko-KR" altLang="en-US" dirty="0"/>
              <a:t>의 어느 필드도 파라미터로 받지 않는 생성자를 생성 </a:t>
            </a:r>
            <a:endParaRPr lang="en-US" altLang="ko-KR" dirty="0"/>
          </a:p>
          <a:p>
            <a:pPr lvl="2"/>
            <a:r>
              <a:rPr lang="en-US" altLang="ko-KR" dirty="0" err="1"/>
              <a:t>AllArgsConstructor</a:t>
            </a:r>
            <a:r>
              <a:rPr lang="en-US" altLang="ko-KR" dirty="0"/>
              <a:t> : </a:t>
            </a:r>
            <a:r>
              <a:rPr lang="ko-KR" altLang="en-US" dirty="0"/>
              <a:t>해당 </a:t>
            </a:r>
            <a:r>
              <a:rPr lang="en-US" altLang="ko-KR" dirty="0"/>
              <a:t>class</a:t>
            </a:r>
            <a:r>
              <a:rPr lang="ko-KR" altLang="en-US" dirty="0"/>
              <a:t>의 모든 필드를 파라미터로 받는 생성자를 생성</a:t>
            </a:r>
            <a:endParaRPr lang="en-US" altLang="ko-KR" dirty="0"/>
          </a:p>
          <a:p>
            <a:pPr lvl="2"/>
            <a:endParaRPr lang="en-US" altLang="ko-KR" dirty="0"/>
          </a:p>
          <a:p>
            <a:pPr marL="1371600" lvl="2" indent="-457200">
              <a:buAutoNum type="arabicPeriod"/>
            </a:pPr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C7A296-B2F6-3D67-59FA-42EDBF286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1</a:t>
            </a:r>
            <a:r>
              <a:rPr lang="ko-KR" altLang="en-US" dirty="0"/>
              <a:t>주차 내용을 </a:t>
            </a:r>
            <a:r>
              <a:rPr lang="en-US" altLang="ko-KR" dirty="0" err="1"/>
              <a:t>JavaspringBoot</a:t>
            </a:r>
            <a:r>
              <a:rPr lang="ko-KR" altLang="en-US" dirty="0"/>
              <a:t>로 구현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F18131B-2547-6A13-690B-190EC360B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712" y="1802922"/>
            <a:ext cx="5118237" cy="385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752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3036C-B43A-6DCB-E1FE-FE8564B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주차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30909B-53BB-A414-EB29-F3688DC66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2922"/>
            <a:ext cx="5741709" cy="4374042"/>
          </a:xfrm>
        </p:spPr>
        <p:txBody>
          <a:bodyPr/>
          <a:lstStyle/>
          <a:p>
            <a:r>
              <a:rPr lang="en-US" altLang="ko-KR" b="1" dirty="0"/>
              <a:t>Service</a:t>
            </a:r>
          </a:p>
          <a:p>
            <a:pPr lvl="1"/>
            <a:r>
              <a:rPr lang="ko-KR" altLang="en-US" dirty="0"/>
              <a:t>처리할 액션을 정의</a:t>
            </a:r>
            <a:endParaRPr lang="en-US" altLang="ko-KR" dirty="0"/>
          </a:p>
          <a:p>
            <a:pPr lvl="2"/>
            <a:endParaRPr lang="en-US" altLang="ko-KR" dirty="0"/>
          </a:p>
          <a:p>
            <a:pPr marL="1371600" lvl="2" indent="-457200">
              <a:buAutoNum type="arabicPeriod"/>
            </a:pPr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C7A296-B2F6-3D67-59FA-42EDBF286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1</a:t>
            </a:r>
            <a:r>
              <a:rPr lang="ko-KR" altLang="en-US" dirty="0"/>
              <a:t>주차 내용을 </a:t>
            </a:r>
            <a:r>
              <a:rPr lang="en-US" altLang="ko-KR" dirty="0" err="1"/>
              <a:t>JavaspringBoot</a:t>
            </a:r>
            <a:r>
              <a:rPr lang="ko-KR" altLang="en-US" dirty="0"/>
              <a:t>로 구현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39CA411-F0A1-C90F-0025-4711E831A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983" y="3946746"/>
            <a:ext cx="7820250" cy="254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2825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3036C-B43A-6DCB-E1FE-FE8564B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주차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30909B-53BB-A414-EB29-F3688DC66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02922"/>
            <a:ext cx="5394960" cy="4374042"/>
          </a:xfrm>
        </p:spPr>
        <p:txBody>
          <a:bodyPr/>
          <a:lstStyle/>
          <a:p>
            <a:r>
              <a:rPr lang="en-US" altLang="ko-KR" b="1" dirty="0"/>
              <a:t>Service</a:t>
            </a:r>
          </a:p>
          <a:p>
            <a:pPr lvl="1"/>
            <a:r>
              <a:rPr lang="ko-KR" altLang="en-US" dirty="0"/>
              <a:t>필요한 </a:t>
            </a:r>
            <a:r>
              <a:rPr lang="en-US" altLang="ko-KR" dirty="0"/>
              <a:t>Annotation </a:t>
            </a:r>
            <a:r>
              <a:rPr lang="ko-KR" altLang="en-US" dirty="0"/>
              <a:t>선언 </a:t>
            </a:r>
            <a:endParaRPr lang="en-US" altLang="ko-KR" dirty="0"/>
          </a:p>
          <a:p>
            <a:pPr lvl="1"/>
            <a:r>
              <a:rPr lang="en-US" altLang="ko-KR" dirty="0"/>
              <a:t>repository</a:t>
            </a:r>
            <a:r>
              <a:rPr lang="ko-KR" altLang="en-US" dirty="0"/>
              <a:t>로 받아온 모델</a:t>
            </a:r>
            <a:r>
              <a:rPr lang="en-US" altLang="ko-KR" dirty="0"/>
              <a:t> </a:t>
            </a:r>
            <a:r>
              <a:rPr lang="ko-KR" altLang="en-US" dirty="0"/>
              <a:t>데이터를 </a:t>
            </a:r>
            <a:r>
              <a:rPr lang="en-US" altLang="ko-KR" dirty="0" err="1"/>
              <a:t>Dto</a:t>
            </a:r>
            <a:r>
              <a:rPr lang="ko-KR" altLang="en-US" dirty="0"/>
              <a:t>에 복사하는 코드 삽입</a:t>
            </a:r>
            <a:endParaRPr lang="en-US" altLang="ko-KR" dirty="0"/>
          </a:p>
          <a:p>
            <a:pPr lvl="1"/>
            <a:r>
              <a:rPr lang="en-US" altLang="ko-KR" dirty="0"/>
              <a:t>Id</a:t>
            </a:r>
            <a:r>
              <a:rPr lang="ko-KR" altLang="en-US" dirty="0"/>
              <a:t>로 데이터를 검색하는 코드 삽입  </a:t>
            </a:r>
            <a:endParaRPr lang="en-US" altLang="ko-KR" dirty="0"/>
          </a:p>
          <a:p>
            <a:pPr marL="1371600" lvl="2" indent="-457200">
              <a:buAutoNum type="arabicPeriod"/>
            </a:pPr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C7A296-B2F6-3D67-59FA-42EDBF286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1</a:t>
            </a:r>
            <a:r>
              <a:rPr lang="ko-KR" altLang="en-US" dirty="0"/>
              <a:t>주차 내용을 </a:t>
            </a:r>
            <a:r>
              <a:rPr lang="en-US" altLang="ko-KR" dirty="0" err="1"/>
              <a:t>JavaspringBoot</a:t>
            </a:r>
            <a:r>
              <a:rPr lang="ko-KR" altLang="en-US" dirty="0"/>
              <a:t>로 구현 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DF7E847-CDE4-07F4-D66C-47F6D6A1F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353" y="1544129"/>
            <a:ext cx="5803896" cy="350055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1570259-72BE-8DB7-0E23-6065996B1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3353" y="5044686"/>
            <a:ext cx="5798647" cy="223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347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3036C-B43A-6DCB-E1FE-FE8564B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주차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30909B-53BB-A414-EB29-F3688DC66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02922"/>
            <a:ext cx="9950840" cy="4374042"/>
          </a:xfrm>
        </p:spPr>
        <p:txBody>
          <a:bodyPr/>
          <a:lstStyle/>
          <a:p>
            <a:r>
              <a:rPr lang="en-US" altLang="ko-KR" b="1" dirty="0"/>
              <a:t>DTO</a:t>
            </a:r>
          </a:p>
          <a:p>
            <a:pPr lvl="1"/>
            <a:r>
              <a:rPr lang="ko-KR" altLang="en-US" dirty="0"/>
              <a:t>모델의 데이터를 전달하기 위해 사용</a:t>
            </a:r>
            <a:endParaRPr lang="en-US" altLang="ko-KR" dirty="0"/>
          </a:p>
          <a:p>
            <a:pPr lvl="1"/>
            <a:r>
              <a:rPr lang="en-US" altLang="ko-KR" dirty="0"/>
              <a:t>Repository</a:t>
            </a:r>
            <a:r>
              <a:rPr lang="ko-KR" altLang="en-US" dirty="0"/>
              <a:t>의 데이터를 복사하여 사용</a:t>
            </a:r>
            <a:endParaRPr lang="en-US" altLang="ko-KR" dirty="0"/>
          </a:p>
          <a:p>
            <a:pPr marL="1371600" lvl="2" indent="-457200">
              <a:buAutoNum type="arabicPeriod"/>
            </a:pPr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C7A296-B2F6-3D67-59FA-42EDBF286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1</a:t>
            </a:r>
            <a:r>
              <a:rPr lang="ko-KR" altLang="en-US" dirty="0"/>
              <a:t>주차 내용을 </a:t>
            </a:r>
            <a:r>
              <a:rPr lang="en-US" altLang="ko-KR" dirty="0" err="1"/>
              <a:t>JavaspringBoot</a:t>
            </a:r>
            <a:r>
              <a:rPr lang="ko-KR" altLang="en-US" dirty="0"/>
              <a:t>로 구현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A882751-BE79-FCCA-C8F8-1773FF444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59" y="2885303"/>
            <a:ext cx="6928240" cy="383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9379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3036C-B43A-6DCB-E1FE-FE8564B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주차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30909B-53BB-A414-EB29-F3688DC66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02922"/>
            <a:ext cx="4186381" cy="4374042"/>
          </a:xfrm>
        </p:spPr>
        <p:txBody>
          <a:bodyPr/>
          <a:lstStyle/>
          <a:p>
            <a:r>
              <a:rPr lang="en-US" altLang="ko-KR" b="1" dirty="0"/>
              <a:t>Controller</a:t>
            </a:r>
          </a:p>
          <a:p>
            <a:pPr lvl="1"/>
            <a:r>
              <a:rPr lang="en-US" altLang="ko-KR" dirty="0"/>
              <a:t>Service</a:t>
            </a:r>
            <a:r>
              <a:rPr lang="ko-KR" altLang="en-US" dirty="0"/>
              <a:t>를 호출함</a:t>
            </a:r>
            <a:endParaRPr lang="en-US" altLang="ko-KR" dirty="0"/>
          </a:p>
          <a:p>
            <a:pPr lvl="1"/>
            <a:r>
              <a:rPr lang="en-US" altLang="ko-KR" dirty="0"/>
              <a:t>Spring</a:t>
            </a:r>
            <a:r>
              <a:rPr lang="ko-KR" altLang="en-US" dirty="0"/>
              <a:t>이 요청을 받은 주소 </a:t>
            </a:r>
            <a:r>
              <a:rPr lang="en-US" altLang="ko-KR" dirty="0" err="1"/>
              <a:t>url</a:t>
            </a:r>
            <a:r>
              <a:rPr lang="ko-KR" altLang="en-US" dirty="0"/>
              <a:t>과 </a:t>
            </a:r>
            <a:r>
              <a:rPr lang="en-US" altLang="ko-KR" dirty="0"/>
              <a:t>service </a:t>
            </a:r>
            <a:r>
              <a:rPr lang="ko-KR" altLang="en-US" dirty="0"/>
              <a:t>간 매핑함 </a:t>
            </a:r>
            <a:endParaRPr lang="en-US" altLang="ko-KR" dirty="0"/>
          </a:p>
          <a:p>
            <a:pPr lvl="1"/>
            <a:r>
              <a:rPr lang="en-US" altLang="ko-KR" dirty="0"/>
              <a:t>Service</a:t>
            </a:r>
            <a:r>
              <a:rPr lang="ko-KR" altLang="en-US" dirty="0"/>
              <a:t>를 호출할 </a:t>
            </a:r>
            <a:r>
              <a:rPr lang="en-US" altLang="ko-KR" dirty="0" err="1"/>
              <a:t>url</a:t>
            </a:r>
            <a:r>
              <a:rPr lang="en-US" altLang="ko-KR" dirty="0"/>
              <a:t> </a:t>
            </a:r>
            <a:r>
              <a:rPr lang="ko-KR" altLang="en-US" dirty="0"/>
              <a:t>생성  </a:t>
            </a:r>
            <a:endParaRPr lang="en-US" altLang="ko-KR" dirty="0"/>
          </a:p>
          <a:p>
            <a:pPr lvl="1"/>
            <a:r>
              <a:rPr lang="en-US" altLang="ko-KR" dirty="0"/>
              <a:t>Service</a:t>
            </a:r>
            <a:r>
              <a:rPr lang="ko-KR" altLang="en-US" dirty="0"/>
              <a:t>에서 사용할 </a:t>
            </a:r>
            <a:r>
              <a:rPr lang="en-US" altLang="ko-KR" dirty="0"/>
              <a:t>class</a:t>
            </a:r>
            <a:r>
              <a:rPr lang="ko-KR" altLang="en-US" dirty="0"/>
              <a:t>를 선택하여 선언 </a:t>
            </a:r>
            <a:endParaRPr lang="en-US" altLang="ko-KR" dirty="0"/>
          </a:p>
          <a:p>
            <a:pPr marL="1371600" lvl="2" indent="-457200">
              <a:buAutoNum type="arabicPeriod"/>
            </a:pPr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C7A296-B2F6-3D67-59FA-42EDBF286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1</a:t>
            </a:r>
            <a:r>
              <a:rPr lang="ko-KR" altLang="en-US" dirty="0"/>
              <a:t>주차 내용을 </a:t>
            </a:r>
            <a:r>
              <a:rPr lang="en-US" altLang="ko-KR" dirty="0" err="1"/>
              <a:t>JavaspringBoot</a:t>
            </a:r>
            <a:r>
              <a:rPr lang="ko-KR" altLang="en-US" dirty="0"/>
              <a:t>로 구현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5DB6C75-EC90-DC9F-7B07-260D5063C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737" y="2205106"/>
            <a:ext cx="6849509" cy="122389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8FA4CD4-6B09-72E8-7E18-BF171E50ED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151" y="3637509"/>
            <a:ext cx="6785095" cy="294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232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3036C-B43A-6DCB-E1FE-FE8564B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주차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30909B-53BB-A414-EB29-F3688DC66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완료</a:t>
            </a:r>
            <a:r>
              <a:rPr lang="en-US" altLang="ko-KR" dirty="0"/>
              <a:t>] 2</a:t>
            </a:r>
            <a:r>
              <a:rPr lang="ko-KR" altLang="en-US" dirty="0"/>
              <a:t>주차에 사용한 라이브러리 조사 </a:t>
            </a:r>
            <a:r>
              <a:rPr lang="en-US" altLang="ko-KR" dirty="0"/>
              <a:t>(</a:t>
            </a:r>
            <a:r>
              <a:rPr lang="ko-KR" altLang="en-US" dirty="0"/>
              <a:t>사용하지 않는 라이브러리를 제거하여 리소스를 줄이기 위함</a:t>
            </a:r>
            <a:r>
              <a:rPr lang="en-US" altLang="ko-KR" dirty="0"/>
              <a:t>) –&gt; </a:t>
            </a:r>
            <a:r>
              <a:rPr lang="ko-KR" altLang="en-US" dirty="0"/>
              <a:t>정리함 </a:t>
            </a:r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완료</a:t>
            </a:r>
            <a:r>
              <a:rPr lang="en-US" altLang="ko-KR" dirty="0"/>
              <a:t>] GET,POST,PUT,PATCH,DELETE </a:t>
            </a:r>
            <a:r>
              <a:rPr lang="ko-KR" altLang="en-US" dirty="0"/>
              <a:t>실행</a:t>
            </a:r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완료</a:t>
            </a:r>
            <a:r>
              <a:rPr lang="en-US" altLang="ko-KR" dirty="0"/>
              <a:t>] URL</a:t>
            </a:r>
            <a:r>
              <a:rPr lang="ko-KR" altLang="en-US" dirty="0"/>
              <a:t>에 포함된 파라미터를 </a:t>
            </a:r>
            <a:r>
              <a:rPr lang="en-US" altLang="ko-KR" dirty="0"/>
              <a:t>Request body</a:t>
            </a:r>
            <a:r>
              <a:rPr lang="ko-KR" altLang="en-US" dirty="0"/>
              <a:t>로 요청</a:t>
            </a:r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완료</a:t>
            </a:r>
            <a:r>
              <a:rPr lang="en-US" altLang="ko-KR" dirty="0"/>
              <a:t>] Authorization </a:t>
            </a:r>
            <a:r>
              <a:rPr lang="ko-KR" altLang="en-US" dirty="0"/>
              <a:t>설정 조사 </a:t>
            </a:r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완료</a:t>
            </a:r>
            <a:r>
              <a:rPr lang="en-US" altLang="ko-KR" dirty="0"/>
              <a:t>] Headers </a:t>
            </a:r>
            <a:r>
              <a:rPr lang="ko-KR" altLang="en-US" dirty="0"/>
              <a:t>구조 파악</a:t>
            </a:r>
            <a:endParaRPr lang="en-US" altLang="ko-KR" dirty="0"/>
          </a:p>
          <a:p>
            <a:r>
              <a:rPr lang="ko-KR" altLang="en-US" dirty="0"/>
              <a:t>복잡한 쿼리 사용 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C7A296-B2F6-3D67-59FA-42EDBF286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API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3067AF8-2465-D4C2-9D7B-96CA0EAFF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268" y="4611854"/>
            <a:ext cx="6885295" cy="16604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819015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FC34C-C79C-E29D-90FD-2FD6CB914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65F453-9D27-35D6-A35B-C68A38772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주차 </a:t>
            </a:r>
            <a:r>
              <a:rPr lang="en-US" altLang="ko-KR" dirty="0"/>
              <a:t>: API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9F790-C8BC-2E86-1A29-B3837B2F4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2922"/>
            <a:ext cx="10515600" cy="2388078"/>
          </a:xfrm>
        </p:spPr>
        <p:txBody>
          <a:bodyPr/>
          <a:lstStyle/>
          <a:p>
            <a:r>
              <a:rPr lang="ko-KR" altLang="en-US" dirty="0"/>
              <a:t>사용하는 라이브러리</a:t>
            </a:r>
            <a:r>
              <a:rPr lang="en-US" altLang="ko-KR" dirty="0"/>
              <a:t>(./</a:t>
            </a:r>
            <a:r>
              <a:rPr lang="en-US" altLang="ko-KR" dirty="0" err="1"/>
              <a:t>build.gradle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0E7EE6E-010B-9AF0-88CE-563063AADC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</a:t>
            </a:r>
            <a:r>
              <a:rPr lang="ko-KR" altLang="en-US" dirty="0"/>
              <a:t>사용 라이브러리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5E5C251-4828-B7BC-4B1C-035B1496B3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795" y="2247826"/>
            <a:ext cx="6248655" cy="1825906"/>
          </a:xfrm>
          <a:prstGeom prst="rect">
            <a:avLst/>
          </a:prstGeom>
        </p:spPr>
      </p:pic>
      <p:sp>
        <p:nvSpPr>
          <p:cNvPr id="15" name="내용 개체 틀 3">
            <a:extLst>
              <a:ext uri="{FF2B5EF4-FFF2-40B4-BE49-F238E27FC236}">
                <a16:creationId xmlns:a16="http://schemas.microsoft.com/office/drawing/2014/main" id="{CEDA112D-6709-EA2B-D148-4DCBF3C66EAC}"/>
              </a:ext>
            </a:extLst>
          </p:cNvPr>
          <p:cNvSpPr txBox="1">
            <a:spLocks/>
          </p:cNvSpPr>
          <p:nvPr/>
        </p:nvSpPr>
        <p:spPr>
          <a:xfrm>
            <a:off x="838200" y="4191000"/>
            <a:ext cx="10515600" cy="23880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/>
              <a:t>Dependencies block</a:t>
            </a:r>
            <a:r>
              <a:rPr lang="ko-KR" altLang="en-US" sz="1800" dirty="0"/>
              <a:t>이란 프로젝트를 구성하기 위해 </a:t>
            </a:r>
            <a:r>
              <a:rPr lang="ko-KR" altLang="en-US" sz="1800" dirty="0" err="1"/>
              <a:t>있어야하는</a:t>
            </a:r>
            <a:r>
              <a:rPr lang="ko-KR" altLang="en-US" sz="1800" dirty="0"/>
              <a:t> 라이브러리 목록임</a:t>
            </a:r>
            <a:endParaRPr lang="en-US" altLang="ko-KR" sz="1800" dirty="0"/>
          </a:p>
          <a:p>
            <a:r>
              <a:rPr lang="en-US" altLang="ko-KR" sz="1800" dirty="0"/>
              <a:t>Implementation : </a:t>
            </a:r>
            <a:r>
              <a:rPr lang="ko-KR" altLang="en-US" sz="1800" dirty="0"/>
              <a:t>전체 범위에 적용</a:t>
            </a:r>
            <a:endParaRPr lang="en-US" altLang="ko-KR" sz="1800" dirty="0"/>
          </a:p>
          <a:p>
            <a:r>
              <a:rPr lang="en-US" altLang="ko-KR" sz="1800" dirty="0" err="1"/>
              <a:t>compileOnly</a:t>
            </a:r>
            <a:r>
              <a:rPr lang="en-US" altLang="ko-KR" sz="1800" dirty="0"/>
              <a:t> : </a:t>
            </a:r>
            <a:r>
              <a:rPr lang="ko-KR" altLang="en-US" sz="1800" dirty="0" err="1"/>
              <a:t>컴파일할때</a:t>
            </a:r>
            <a:r>
              <a:rPr lang="ko-KR" altLang="en-US" sz="1800" dirty="0"/>
              <a:t> 사용</a:t>
            </a:r>
            <a:endParaRPr lang="en-US" altLang="ko-KR" sz="1800" dirty="0"/>
          </a:p>
          <a:p>
            <a:r>
              <a:rPr lang="en-US" altLang="ko-KR" sz="1800" dirty="0" err="1"/>
              <a:t>developmentOnly</a:t>
            </a:r>
            <a:r>
              <a:rPr lang="en-US" altLang="ko-KR" sz="1800" dirty="0"/>
              <a:t> : </a:t>
            </a:r>
            <a:r>
              <a:rPr lang="ko-KR" altLang="en-US" sz="1800" dirty="0"/>
              <a:t>개발 시에만 사용</a:t>
            </a:r>
            <a:endParaRPr lang="en-US" altLang="ko-KR" sz="1800" dirty="0"/>
          </a:p>
          <a:p>
            <a:r>
              <a:rPr lang="en-US" altLang="ko-KR" sz="1800" dirty="0" err="1"/>
              <a:t>annotationProcessor</a:t>
            </a:r>
            <a:r>
              <a:rPr lang="en-US" altLang="ko-KR" sz="1800" dirty="0"/>
              <a:t> : </a:t>
            </a:r>
            <a:r>
              <a:rPr lang="ko-KR" altLang="en-US" sz="1800" dirty="0" err="1"/>
              <a:t>어노테이션</a:t>
            </a:r>
            <a:r>
              <a:rPr lang="ko-KR" altLang="en-US" sz="1800" dirty="0"/>
              <a:t> 처리 및 </a:t>
            </a:r>
            <a:r>
              <a:rPr lang="en-US" altLang="ko-KR" sz="1800" dirty="0"/>
              <a:t>main</a:t>
            </a:r>
            <a:r>
              <a:rPr lang="ko-KR" altLang="en-US" sz="1800" dirty="0"/>
              <a:t>으로 세팅</a:t>
            </a:r>
            <a:endParaRPr lang="en-US" altLang="ko-KR" sz="1800" dirty="0"/>
          </a:p>
          <a:p>
            <a:r>
              <a:rPr lang="en-US" altLang="ko-KR" sz="1800" dirty="0" err="1"/>
              <a:t>testImplementation</a:t>
            </a:r>
            <a:r>
              <a:rPr lang="en-US" altLang="ko-KR" sz="1800" dirty="0"/>
              <a:t> : test </a:t>
            </a:r>
            <a:r>
              <a:rPr lang="ko-KR" altLang="en-US" sz="1800" dirty="0"/>
              <a:t>소스에만 구현</a:t>
            </a:r>
            <a:endParaRPr lang="en-US" altLang="ko-KR" sz="1800" dirty="0"/>
          </a:p>
          <a:p>
            <a:r>
              <a:rPr lang="en-US" altLang="ko-KR" sz="1800" dirty="0" err="1"/>
              <a:t>testRuntimeOnly</a:t>
            </a:r>
            <a:r>
              <a:rPr lang="en-US" altLang="ko-KR" sz="1800" dirty="0"/>
              <a:t> : test </a:t>
            </a:r>
            <a:r>
              <a:rPr lang="ko-KR" altLang="en-US" sz="1800" dirty="0"/>
              <a:t>소스에만 실행</a:t>
            </a:r>
            <a:r>
              <a:rPr lang="en-US" altLang="ko-KR" sz="1800" dirty="0"/>
              <a:t>  	</a:t>
            </a:r>
          </a:p>
        </p:txBody>
      </p:sp>
      <p:sp>
        <p:nvSpPr>
          <p:cNvPr id="19" name="오른쪽 중괄호 18">
            <a:extLst>
              <a:ext uri="{FF2B5EF4-FFF2-40B4-BE49-F238E27FC236}">
                <a16:creationId xmlns:a16="http://schemas.microsoft.com/office/drawing/2014/main" id="{1A573F95-1994-927E-D42F-03212A5EA6A4}"/>
              </a:ext>
            </a:extLst>
          </p:cNvPr>
          <p:cNvSpPr/>
          <p:nvPr/>
        </p:nvSpPr>
        <p:spPr>
          <a:xfrm>
            <a:off x="7522935" y="2313054"/>
            <a:ext cx="422220" cy="1695450"/>
          </a:xfrm>
          <a:prstGeom prst="rightBrace">
            <a:avLst>
              <a:gd name="adj1" fmla="val 8333"/>
              <a:gd name="adj2" fmla="val 5112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E715C0-A78D-25AA-D562-18D3094234BB}"/>
              </a:ext>
            </a:extLst>
          </p:cNvPr>
          <p:cNvSpPr txBox="1"/>
          <p:nvPr/>
        </p:nvSpPr>
        <p:spPr>
          <a:xfrm>
            <a:off x="7996890" y="2837613"/>
            <a:ext cx="3305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1">
                    <a:lumMod val="75000"/>
                  </a:schemeClr>
                </a:solidFill>
              </a:rPr>
              <a:t>Dependencies block</a:t>
            </a:r>
          </a:p>
          <a:p>
            <a:r>
              <a:rPr lang="en-US" altLang="ko-KR" dirty="0">
                <a:solidFill>
                  <a:schemeClr val="accent1">
                    <a:lumMod val="75000"/>
                  </a:schemeClr>
                </a:solidFill>
              </a:rPr>
              <a:t>(Groovy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  <a:t>기준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ko-KR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3A9583E-BFA4-F562-E5F5-EE61E8F98370}"/>
              </a:ext>
            </a:extLst>
          </p:cNvPr>
          <p:cNvSpPr/>
          <p:nvPr/>
        </p:nvSpPr>
        <p:spPr>
          <a:xfrm>
            <a:off x="5691670" y="3847476"/>
            <a:ext cx="808660" cy="1967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</a:rPr>
              <a:t>라이브러리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611FC07-8CED-5EE9-ED59-7BD9127D3F07}"/>
              </a:ext>
            </a:extLst>
          </p:cNvPr>
          <p:cNvSpPr/>
          <p:nvPr/>
        </p:nvSpPr>
        <p:spPr>
          <a:xfrm>
            <a:off x="1496883" y="3575084"/>
            <a:ext cx="1315644" cy="238125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E86BDBB-5074-DC07-7A16-149D61C99E0D}"/>
              </a:ext>
            </a:extLst>
          </p:cNvPr>
          <p:cNvSpPr/>
          <p:nvPr/>
        </p:nvSpPr>
        <p:spPr>
          <a:xfrm>
            <a:off x="1395894" y="3814018"/>
            <a:ext cx="1426157" cy="2579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</a:rPr>
              <a:t>라이브러리 적용 범위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3D18E64-2C2A-7B51-7B5E-83C1ACF73427}"/>
              </a:ext>
            </a:extLst>
          </p:cNvPr>
          <p:cNvSpPr/>
          <p:nvPr/>
        </p:nvSpPr>
        <p:spPr>
          <a:xfrm>
            <a:off x="2848816" y="3565884"/>
            <a:ext cx="3784023" cy="23812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34845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3036C-B43A-6DCB-E1FE-FE8564B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주차 </a:t>
            </a:r>
            <a:r>
              <a:rPr lang="en-US" altLang="ko-KR" dirty="0"/>
              <a:t>: API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30909B-53BB-A414-EB29-F3688DC66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altLang="ko-KR" dirty="0"/>
              <a:t>Request</a:t>
            </a:r>
            <a:r>
              <a:rPr lang="ko-KR" altLang="en-US" dirty="0"/>
              <a:t> </a:t>
            </a:r>
            <a:r>
              <a:rPr lang="en-US" altLang="ko-KR" dirty="0"/>
              <a:t>DTO</a:t>
            </a:r>
            <a:r>
              <a:rPr lang="ko-KR" altLang="en-US" dirty="0"/>
              <a:t> 생성 </a:t>
            </a:r>
            <a:endParaRPr lang="en-US" altLang="ko-KR" dirty="0"/>
          </a:p>
          <a:p>
            <a:pPr marL="457200" indent="-457200">
              <a:buAutoNum type="arabicPeriod"/>
            </a:pPr>
            <a:r>
              <a:rPr lang="en-US" altLang="ko-KR" dirty="0" err="1"/>
              <a:t>Url</a:t>
            </a:r>
            <a:r>
              <a:rPr lang="en-US" altLang="ko-KR" dirty="0"/>
              <a:t> </a:t>
            </a:r>
            <a:r>
              <a:rPr lang="ko-KR" altLang="en-US" dirty="0"/>
              <a:t>파라미터 삭제</a:t>
            </a:r>
            <a:r>
              <a:rPr lang="en-US" altLang="ko-KR" dirty="0"/>
              <a:t>, request body</a:t>
            </a:r>
            <a:r>
              <a:rPr lang="ko-KR" altLang="en-US" dirty="0"/>
              <a:t>로 요청 </a:t>
            </a:r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C7A296-B2F6-3D67-59FA-42EDBF286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b="1" dirty="0"/>
              <a:t>: URL</a:t>
            </a:r>
            <a:r>
              <a:rPr lang="ko-KR" altLang="en-US" b="1" dirty="0"/>
              <a:t>에 포함된 파라미터를 </a:t>
            </a:r>
            <a:r>
              <a:rPr lang="en-US" altLang="ko-KR" b="1" dirty="0"/>
              <a:t>Request body</a:t>
            </a:r>
            <a:r>
              <a:rPr lang="ko-KR" altLang="en-US" b="1" dirty="0"/>
              <a:t>로 요청</a:t>
            </a:r>
            <a:endParaRPr lang="en-US" altLang="ko-KR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7F86AF4-2025-9FBA-FA37-E85DA9394BFD}"/>
              </a:ext>
            </a:extLst>
          </p:cNvPr>
          <p:cNvSpPr/>
          <p:nvPr/>
        </p:nvSpPr>
        <p:spPr>
          <a:xfrm>
            <a:off x="10760364" y="-4941"/>
            <a:ext cx="1431636" cy="6211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변경 완료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E27E66D-2E29-732E-D4E3-5ED72C439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941" y="2858924"/>
            <a:ext cx="5302081" cy="79047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9A4A444-C9BD-51A6-8748-7FBADEFFF0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862717"/>
            <a:ext cx="5746987" cy="3871161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EC13824-95D9-898D-EC95-3463348554FD}"/>
              </a:ext>
            </a:extLst>
          </p:cNvPr>
          <p:cNvSpPr txBox="1"/>
          <p:nvPr/>
        </p:nvSpPr>
        <p:spPr>
          <a:xfrm>
            <a:off x="286941" y="2612703"/>
            <a:ext cx="8293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&lt;</a:t>
            </a:r>
            <a:r>
              <a:rPr lang="ko-KR" altLang="en-US" sz="1000" dirty="0"/>
              <a:t>코드</a:t>
            </a:r>
            <a:r>
              <a:rPr lang="en-US" altLang="ko-KR" sz="1000" dirty="0"/>
              <a:t>&gt;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776BFA-602D-8332-6436-509F464132D6}"/>
              </a:ext>
            </a:extLst>
          </p:cNvPr>
          <p:cNvSpPr txBox="1"/>
          <p:nvPr/>
        </p:nvSpPr>
        <p:spPr>
          <a:xfrm>
            <a:off x="6024978" y="2612703"/>
            <a:ext cx="14532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&lt;API </a:t>
            </a:r>
            <a:r>
              <a:rPr lang="ko-KR" altLang="en-US" sz="1000" dirty="0"/>
              <a:t>요청</a:t>
            </a:r>
            <a:r>
              <a:rPr lang="en-US" altLang="ko-KR" sz="1000" dirty="0"/>
              <a:t>/</a:t>
            </a:r>
            <a:r>
              <a:rPr lang="ko-KR" altLang="en-US" sz="1000" dirty="0"/>
              <a:t> 결과</a:t>
            </a:r>
            <a:r>
              <a:rPr lang="en-US" altLang="ko-KR" sz="1000" dirty="0"/>
              <a:t>&gt;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4788951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B4521-27C3-D867-2407-B4283EF8F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2CDCEA-1B58-C9B2-BFF5-145D00C5A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주차 </a:t>
            </a:r>
            <a:r>
              <a:rPr lang="en-US" altLang="ko-KR" dirty="0"/>
              <a:t>: API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C9D6052-C1D2-EF36-C959-FC68BCB01C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HTTP METHOD</a:t>
            </a:r>
            <a:r>
              <a:rPr lang="ko-KR" altLang="en-US" dirty="0"/>
              <a:t> 요약</a:t>
            </a:r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B6D7BC55-DC12-7111-B49F-EB354180D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2922"/>
            <a:ext cx="10515600" cy="4374042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6DDEDDC-DB8D-1CCA-73DD-E154F6841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057923"/>
              </p:ext>
            </p:extLst>
          </p:nvPr>
        </p:nvGraphicFramePr>
        <p:xfrm>
          <a:off x="1151465" y="1802922"/>
          <a:ext cx="9889069" cy="2938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2739">
                  <a:extLst>
                    <a:ext uri="{9D8B030D-6E8A-4147-A177-3AD203B41FA5}">
                      <a16:colId xmlns:a16="http://schemas.microsoft.com/office/drawing/2014/main" val="855462432"/>
                    </a:ext>
                  </a:extLst>
                </a:gridCol>
                <a:gridCol w="2037728">
                  <a:extLst>
                    <a:ext uri="{9D8B030D-6E8A-4147-A177-3AD203B41FA5}">
                      <a16:colId xmlns:a16="http://schemas.microsoft.com/office/drawing/2014/main" val="3965230790"/>
                    </a:ext>
                  </a:extLst>
                </a:gridCol>
                <a:gridCol w="2150534">
                  <a:extLst>
                    <a:ext uri="{9D8B030D-6E8A-4147-A177-3AD203B41FA5}">
                      <a16:colId xmlns:a16="http://schemas.microsoft.com/office/drawing/2014/main" val="3600829313"/>
                    </a:ext>
                  </a:extLst>
                </a:gridCol>
                <a:gridCol w="4428068">
                  <a:extLst>
                    <a:ext uri="{9D8B030D-6E8A-4147-A177-3AD203B41FA5}">
                      <a16:colId xmlns:a16="http://schemas.microsoft.com/office/drawing/2014/main" val="3574333736"/>
                    </a:ext>
                  </a:extLst>
                </a:gridCol>
              </a:tblGrid>
              <a:tr h="4897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METHOD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CRUD(</a:t>
                      </a:r>
                      <a:r>
                        <a:rPr lang="ko-KR" altLang="en-US" dirty="0"/>
                        <a:t>표준 권장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데이터 전송 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6676659"/>
                  </a:ext>
                </a:extLst>
              </a:tr>
              <a:tr h="4897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GET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READ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URL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7366095"/>
                  </a:ext>
                </a:extLst>
              </a:tr>
              <a:tr h="4897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POST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CREATE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BODY</a:t>
                      </a:r>
                      <a:endParaRPr lang="ko-KR" altLang="en-US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4586272"/>
                  </a:ext>
                </a:extLst>
              </a:tr>
              <a:tr h="4897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PUT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UPDATE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BODY</a:t>
                      </a:r>
                      <a:endParaRPr lang="ko-KR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리소스 전체 업데이트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4494951"/>
                  </a:ext>
                </a:extLst>
              </a:tr>
              <a:tr h="4897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PATCH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UPDATE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BODY</a:t>
                      </a:r>
                      <a:endParaRPr lang="ko-KR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리소스 일부 업데이트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40446485"/>
                  </a:ext>
                </a:extLst>
              </a:tr>
              <a:tr h="4897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DELETE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DELETE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URL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18391090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2BB5BEDD-6460-A95B-0224-5C6AD743B075}"/>
              </a:ext>
            </a:extLst>
          </p:cNvPr>
          <p:cNvSpPr/>
          <p:nvPr/>
        </p:nvSpPr>
        <p:spPr>
          <a:xfrm>
            <a:off x="10760364" y="-4941"/>
            <a:ext cx="1431636" cy="6211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추가</a:t>
            </a:r>
          </a:p>
        </p:txBody>
      </p:sp>
    </p:spTree>
    <p:extLst>
      <p:ext uri="{BB962C8B-B14F-4D97-AF65-F5344CB8AC3E}">
        <p14:creationId xmlns:p14="http://schemas.microsoft.com/office/powerpoint/2010/main" val="35318351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30909B-53BB-A414-EB29-F3688DC66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GET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981DE5C-0793-8833-989D-45036CCDF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462" y="2234558"/>
            <a:ext cx="7061775" cy="42583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제목 8">
            <a:extLst>
              <a:ext uri="{FF2B5EF4-FFF2-40B4-BE49-F238E27FC236}">
                <a16:creationId xmlns:a16="http://schemas.microsoft.com/office/drawing/2014/main" id="{BC770730-7216-0D52-DE33-622182D80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주차 </a:t>
            </a:r>
            <a:r>
              <a:rPr lang="en-US" altLang="ko-KR" dirty="0"/>
              <a:t>: API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2F5F8F33-F525-A3A7-4DBD-646AD34460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HTTP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 실행</a:t>
            </a:r>
          </a:p>
        </p:txBody>
      </p:sp>
    </p:spTree>
    <p:extLst>
      <p:ext uri="{BB962C8B-B14F-4D97-AF65-F5344CB8AC3E}">
        <p14:creationId xmlns:p14="http://schemas.microsoft.com/office/powerpoint/2010/main" val="22247243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DDAD0-3769-4416-23D6-649DCE173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7F7FFC-535F-8FC0-CB41-22FCC89C0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GET (select * from table where </a:t>
            </a:r>
            <a:r>
              <a:rPr lang="en-US" altLang="ko-KR" dirty="0" err="1"/>
              <a:t>activityname</a:t>
            </a:r>
            <a:r>
              <a:rPr lang="en-US" altLang="ko-KR" dirty="0"/>
              <a:t> like “%{}%”)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22DBC95E-1EEC-2786-2535-4D34D5E80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주차 </a:t>
            </a:r>
            <a:r>
              <a:rPr lang="en-US" altLang="ko-KR" dirty="0"/>
              <a:t>: API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42BA53F8-2339-EF97-BD68-45502A1D07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HTTP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 실행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D0E14B0-D43D-ED78-26E9-CF2F305BEFC1}"/>
              </a:ext>
            </a:extLst>
          </p:cNvPr>
          <p:cNvSpPr/>
          <p:nvPr/>
        </p:nvSpPr>
        <p:spPr>
          <a:xfrm>
            <a:off x="10760364" y="-4941"/>
            <a:ext cx="1431636" cy="6211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오류 수정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9C0F515-E060-EDE8-4FEF-66D157768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12" y="2489636"/>
            <a:ext cx="5700005" cy="73327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000A884-AEAE-CF8E-55B8-21473CA01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9472" y="2489636"/>
            <a:ext cx="4938872" cy="4684105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BCE201F-9C52-CDA5-EEC5-F98F61FE15B7}"/>
              </a:ext>
            </a:extLst>
          </p:cNvPr>
          <p:cNvSpPr txBox="1"/>
          <p:nvPr/>
        </p:nvSpPr>
        <p:spPr>
          <a:xfrm>
            <a:off x="286941" y="2190709"/>
            <a:ext cx="8293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&lt;</a:t>
            </a:r>
            <a:r>
              <a:rPr lang="ko-KR" altLang="en-US" sz="1000" dirty="0"/>
              <a:t>코드</a:t>
            </a:r>
            <a:r>
              <a:rPr lang="en-US" altLang="ko-KR" sz="1000" dirty="0"/>
              <a:t>&gt;</a:t>
            </a:r>
            <a:endParaRPr lang="ko-KR" altLang="en-US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CF2F64-E595-FCAC-982F-405ECDF12830}"/>
              </a:ext>
            </a:extLst>
          </p:cNvPr>
          <p:cNvSpPr txBox="1"/>
          <p:nvPr/>
        </p:nvSpPr>
        <p:spPr>
          <a:xfrm>
            <a:off x="6024978" y="2190709"/>
            <a:ext cx="14532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&lt;API </a:t>
            </a:r>
            <a:r>
              <a:rPr lang="ko-KR" altLang="en-US" sz="1000" dirty="0"/>
              <a:t>요청</a:t>
            </a:r>
            <a:r>
              <a:rPr lang="en-US" altLang="ko-KR" sz="1000" dirty="0"/>
              <a:t>/</a:t>
            </a:r>
            <a:r>
              <a:rPr lang="ko-KR" altLang="en-US" sz="1000" dirty="0"/>
              <a:t> 결과</a:t>
            </a:r>
            <a:r>
              <a:rPr lang="en-US" altLang="ko-KR" sz="1000" dirty="0"/>
              <a:t>&gt;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5056475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3036C-B43A-6DCB-E1FE-FE8564B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주차 </a:t>
            </a:r>
            <a:r>
              <a:rPr lang="en-US" altLang="ko-KR" dirty="0"/>
              <a:t>: API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30909B-53BB-A414-EB29-F3688DC66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POST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C7A296-B2F6-3D67-59FA-42EDBF286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HTTP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 실행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4BD47BB-2FB5-5A9E-0E98-C2D5358D4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33" y="2289978"/>
            <a:ext cx="5683466" cy="280849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8F99AAF-78B7-03B8-30C7-EF9CDEBF7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5164" y="2289978"/>
            <a:ext cx="6510932" cy="39308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910AC31-4221-1079-41F6-BA38904554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434" y="5305003"/>
            <a:ext cx="5683466" cy="78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3260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3036C-B43A-6DCB-E1FE-FE8564B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주차 </a:t>
            </a:r>
            <a:r>
              <a:rPr lang="en-US" altLang="ko-KR" dirty="0"/>
              <a:t>: API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30909B-53BB-A414-EB29-F3688DC66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PUT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C7A296-B2F6-3D67-59FA-42EDBF286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HTTP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 실행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D1700B3-0FA0-7F70-DAA9-591F96041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848" y="2243053"/>
            <a:ext cx="5491877" cy="293811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1FC7359-0D30-51DC-27A8-7C35FA3E9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849" y="5214805"/>
            <a:ext cx="5491878" cy="80857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616D146-A166-CD9B-F828-EA28425E7C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964" y="1544129"/>
            <a:ext cx="5971800" cy="36706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2AF0C24-D920-E642-CD67-BAF38C5CF2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0364" y="5313871"/>
            <a:ext cx="3571346" cy="14469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881168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3036C-B43A-6DCB-E1FE-FE8564B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주차 </a:t>
            </a:r>
            <a:r>
              <a:rPr lang="en-US" altLang="ko-KR" dirty="0"/>
              <a:t>: API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C7A296-B2F6-3D67-59FA-42EDBF286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HTTP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 실행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BA2BD2C-0683-4C30-A295-D4DDC2C33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2076" y="1663131"/>
            <a:ext cx="8473778" cy="50585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D73A4E3D-D410-33A7-2592-E0F199942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2922"/>
            <a:ext cx="10515600" cy="4374042"/>
          </a:xfrm>
        </p:spPr>
        <p:txBody>
          <a:bodyPr/>
          <a:lstStyle/>
          <a:p>
            <a:r>
              <a:rPr lang="en-US" altLang="ko-KR" dirty="0"/>
              <a:t>PATCH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878907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3036C-B43A-6DCB-E1FE-FE8564B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주차 </a:t>
            </a:r>
            <a:r>
              <a:rPr lang="en-US" altLang="ko-KR" dirty="0"/>
              <a:t>: API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30909B-53BB-A414-EB29-F3688DC66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DELETE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C7A296-B2F6-3D67-59FA-42EDBF286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HTTP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 실행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1A30D0D-5E44-989F-8AF6-32F521A7B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37" y="2360520"/>
            <a:ext cx="4083344" cy="122588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60104BD-0073-BC3E-1AFB-3674D1E43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5154" y="2307411"/>
            <a:ext cx="7146846" cy="37146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06AD893-F52C-A6A5-20F6-EE608DCF7C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237" y="3759435"/>
            <a:ext cx="5705928" cy="102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4333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3036C-B43A-6DCB-E1FE-FE8564B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주차 </a:t>
            </a:r>
            <a:r>
              <a:rPr lang="en-US" altLang="ko-KR" dirty="0"/>
              <a:t>: API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30909B-53BB-A414-EB29-F3688DC66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내용 </a:t>
            </a:r>
            <a:r>
              <a:rPr lang="en-US" altLang="ko-KR" dirty="0"/>
              <a:t>: HTTP</a:t>
            </a:r>
            <a:r>
              <a:rPr lang="ko-KR" altLang="en-US" dirty="0"/>
              <a:t>메시지</a:t>
            </a:r>
            <a:r>
              <a:rPr lang="en-US" altLang="ko-KR" dirty="0"/>
              <a:t>(request/response) </a:t>
            </a:r>
            <a:r>
              <a:rPr lang="ko-KR" altLang="en-US" dirty="0"/>
              <a:t>정보 요약</a:t>
            </a:r>
            <a:endParaRPr lang="en-US" altLang="ko-KR" dirty="0"/>
          </a:p>
          <a:p>
            <a:r>
              <a:rPr lang="ko-KR" altLang="en-US" dirty="0"/>
              <a:t>목적 </a:t>
            </a:r>
            <a:r>
              <a:rPr lang="en-US" altLang="ko-KR" dirty="0"/>
              <a:t>: </a:t>
            </a:r>
            <a:r>
              <a:rPr lang="ko-KR" altLang="en-US" dirty="0"/>
              <a:t>정보 전달 및 페이지 속도 처리</a:t>
            </a:r>
            <a:r>
              <a:rPr lang="en-US" altLang="ko-KR" dirty="0"/>
              <a:t>(</a:t>
            </a:r>
            <a:r>
              <a:rPr lang="ko-KR" altLang="en-US" dirty="0"/>
              <a:t>코드 압축</a:t>
            </a:r>
            <a:r>
              <a:rPr lang="en-US" altLang="ko-KR" dirty="0"/>
              <a:t>,</a:t>
            </a:r>
            <a:r>
              <a:rPr lang="ko-KR" altLang="en-US" dirty="0"/>
              <a:t>이미지 처리</a:t>
            </a:r>
            <a:r>
              <a:rPr lang="en-US" altLang="ko-KR" dirty="0"/>
              <a:t>,Lazy </a:t>
            </a:r>
            <a:r>
              <a:rPr lang="en-US" altLang="ko-KR" dirty="0" err="1"/>
              <a:t>Loading,Critical</a:t>
            </a:r>
            <a:r>
              <a:rPr lang="en-US" altLang="ko-KR" dirty="0"/>
              <a:t> </a:t>
            </a:r>
            <a:r>
              <a:rPr lang="en-US" altLang="ko-KR" dirty="0" err="1"/>
              <a:t>renderingpath</a:t>
            </a:r>
            <a:r>
              <a:rPr lang="ko-KR" altLang="en-US" dirty="0"/>
              <a:t> 외 방식</a:t>
            </a:r>
            <a:r>
              <a:rPr lang="en-US" altLang="ko-KR" dirty="0"/>
              <a:t>)</a:t>
            </a:r>
            <a:r>
              <a:rPr lang="ko-KR" altLang="en-US" dirty="0"/>
              <a:t>를 위한 </a:t>
            </a:r>
            <a:r>
              <a:rPr lang="ko-KR" altLang="en-US" dirty="0" err="1"/>
              <a:t>캐싱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구조</a:t>
            </a:r>
            <a:endParaRPr lang="en-US" altLang="ko-KR" dirty="0"/>
          </a:p>
          <a:p>
            <a:pPr lvl="1"/>
            <a:r>
              <a:rPr lang="en-US" altLang="ko-KR" dirty="0"/>
              <a:t>General : </a:t>
            </a:r>
            <a:r>
              <a:rPr lang="ko-KR" altLang="en-US" dirty="0"/>
              <a:t>요청</a:t>
            </a:r>
            <a:r>
              <a:rPr lang="en-US" altLang="ko-KR" dirty="0"/>
              <a:t>/</a:t>
            </a:r>
            <a:r>
              <a:rPr lang="ko-KR" altLang="en-US" dirty="0"/>
              <a:t>응답 자체에 대한 일반적인 정보</a:t>
            </a:r>
            <a:endParaRPr lang="en-US" altLang="ko-KR" dirty="0"/>
          </a:p>
          <a:p>
            <a:pPr lvl="1"/>
            <a:r>
              <a:rPr lang="en-US" altLang="ko-KR" dirty="0"/>
              <a:t>Request/response</a:t>
            </a:r>
          </a:p>
          <a:p>
            <a:pPr lvl="1"/>
            <a:r>
              <a:rPr lang="en-US" altLang="ko-KR" dirty="0"/>
              <a:t>Entity</a:t>
            </a:r>
          </a:p>
          <a:p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C7A296-B2F6-3D67-59FA-42EDBF286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Headers </a:t>
            </a:r>
            <a:r>
              <a:rPr lang="ko-KR" altLang="en-US" dirty="0"/>
              <a:t>구조 파악</a:t>
            </a:r>
          </a:p>
        </p:txBody>
      </p:sp>
    </p:spTree>
    <p:extLst>
      <p:ext uri="{BB962C8B-B14F-4D97-AF65-F5344CB8AC3E}">
        <p14:creationId xmlns:p14="http://schemas.microsoft.com/office/powerpoint/2010/main" val="390387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3036C-B43A-6DCB-E1FE-FE8564B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주차 </a:t>
            </a:r>
            <a:r>
              <a:rPr lang="en-US" altLang="ko-KR" dirty="0"/>
              <a:t>: API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30909B-53BB-A414-EB29-F3688DC66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General : </a:t>
            </a:r>
            <a:r>
              <a:rPr lang="ko-KR" altLang="en-US" dirty="0"/>
              <a:t>요청</a:t>
            </a:r>
            <a:r>
              <a:rPr lang="en-US" altLang="ko-KR" dirty="0"/>
              <a:t>/</a:t>
            </a:r>
            <a:r>
              <a:rPr lang="ko-KR" altLang="en-US" dirty="0"/>
              <a:t>응답 자체에 대한 일반적인 정보</a:t>
            </a:r>
            <a:endParaRPr lang="en-US" altLang="ko-KR" dirty="0"/>
          </a:p>
          <a:p>
            <a:pPr lvl="1"/>
            <a:r>
              <a:rPr lang="en-US" altLang="ko-KR" dirty="0"/>
              <a:t>HTTP/1.1</a:t>
            </a:r>
            <a:r>
              <a:rPr lang="ko-KR" altLang="en-US" dirty="0"/>
              <a:t>부터는 </a:t>
            </a:r>
            <a:r>
              <a:rPr lang="en-US" altLang="ko-KR" dirty="0"/>
              <a:t>General HTTP Headers</a:t>
            </a:r>
            <a:r>
              <a:rPr lang="ko-KR" altLang="en-US" dirty="0"/>
              <a:t>를 별도로 분류하지 않음 </a:t>
            </a:r>
            <a:endParaRPr lang="en-US" altLang="ko-KR" dirty="0"/>
          </a:p>
          <a:p>
            <a:pPr lvl="1"/>
            <a:r>
              <a:rPr lang="ko-KR" altLang="en-US" dirty="0"/>
              <a:t>주요 속성 </a:t>
            </a:r>
            <a:endParaRPr lang="en-US" altLang="ko-KR" dirty="0"/>
          </a:p>
          <a:p>
            <a:pPr lvl="2"/>
            <a:r>
              <a:rPr lang="en-US" altLang="ko-KR" dirty="0"/>
              <a:t>Request</a:t>
            </a:r>
            <a:r>
              <a:rPr lang="ko-KR" altLang="en-US" dirty="0"/>
              <a:t> </a:t>
            </a:r>
            <a:r>
              <a:rPr lang="en-US" altLang="ko-KR" dirty="0" err="1"/>
              <a:t>Url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서비스 요청 주소 </a:t>
            </a:r>
            <a:endParaRPr lang="en-US" altLang="ko-KR" dirty="0"/>
          </a:p>
          <a:p>
            <a:pPr lvl="2"/>
            <a:r>
              <a:rPr lang="en-US" altLang="ko-KR" dirty="0"/>
              <a:t>Request Method : </a:t>
            </a:r>
            <a:r>
              <a:rPr lang="ko-KR" altLang="en-US" dirty="0"/>
              <a:t>서비스 요청 방식</a:t>
            </a:r>
            <a:endParaRPr lang="en-US" altLang="ko-KR" dirty="0"/>
          </a:p>
          <a:p>
            <a:pPr lvl="2"/>
            <a:r>
              <a:rPr lang="en-US" altLang="ko-KR" dirty="0"/>
              <a:t>Status Code : </a:t>
            </a:r>
            <a:r>
              <a:rPr lang="ko-KR" altLang="en-US" dirty="0"/>
              <a:t>요청에 대한 응답 상태 코드</a:t>
            </a:r>
            <a:endParaRPr lang="en-US" altLang="ko-KR" dirty="0"/>
          </a:p>
          <a:p>
            <a:pPr lvl="2"/>
            <a:r>
              <a:rPr lang="en-US" altLang="ko-KR" dirty="0"/>
              <a:t>Remote Address : </a:t>
            </a:r>
            <a:r>
              <a:rPr lang="ko-KR" altLang="en-US" dirty="0"/>
              <a:t>서비스 접근 주소 </a:t>
            </a:r>
            <a:endParaRPr lang="en-US" altLang="ko-KR" dirty="0"/>
          </a:p>
          <a:p>
            <a:pPr lvl="2"/>
            <a:r>
              <a:rPr lang="en-US" altLang="ko-KR" dirty="0" err="1"/>
              <a:t>Refferer</a:t>
            </a:r>
            <a:r>
              <a:rPr lang="en-US" altLang="ko-KR" dirty="0"/>
              <a:t> Policy : </a:t>
            </a:r>
            <a:r>
              <a:rPr lang="ko-KR" altLang="en-US" dirty="0"/>
              <a:t>브라우저 </a:t>
            </a:r>
            <a:r>
              <a:rPr lang="ko-KR" altLang="en-US" dirty="0" err="1"/>
              <a:t>참조자</a:t>
            </a:r>
            <a:r>
              <a:rPr lang="ko-KR" altLang="en-US" dirty="0"/>
              <a:t> 정책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C7A296-B2F6-3D67-59FA-42EDBF286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Headers </a:t>
            </a:r>
            <a:r>
              <a:rPr lang="ko-KR" altLang="en-US" dirty="0"/>
              <a:t>구조 파악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842558B-2145-DBDA-26EB-23849B6A1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11" y="4649142"/>
            <a:ext cx="11581578" cy="16695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337682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3036C-B43A-6DCB-E1FE-FE8564B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주차 </a:t>
            </a:r>
            <a:r>
              <a:rPr lang="en-US" altLang="ko-KR" dirty="0"/>
              <a:t>: API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30909B-53BB-A414-EB29-F3688DC66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Request/response </a:t>
            </a:r>
            <a:r>
              <a:rPr lang="ko-KR" altLang="en-US" dirty="0"/>
              <a:t>공통 정보</a:t>
            </a:r>
            <a:endParaRPr lang="en-US" altLang="ko-KR" dirty="0"/>
          </a:p>
          <a:p>
            <a:pPr lvl="1"/>
            <a:r>
              <a:rPr lang="en-US" altLang="ko-KR" dirty="0"/>
              <a:t>Date</a:t>
            </a:r>
          </a:p>
          <a:p>
            <a:pPr lvl="1"/>
            <a:r>
              <a:rPr lang="en-US" altLang="ko-KR" dirty="0"/>
              <a:t>Connection :</a:t>
            </a:r>
            <a:r>
              <a:rPr lang="ko-KR" altLang="en-US" dirty="0"/>
              <a:t> 기본적으로 </a:t>
            </a:r>
            <a:r>
              <a:rPr lang="en-US" altLang="ko-KR" dirty="0"/>
              <a:t>keep-alive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r>
              <a:rPr lang="en-US" altLang="ko-KR" dirty="0"/>
              <a:t>Content-length</a:t>
            </a:r>
          </a:p>
          <a:p>
            <a:pPr lvl="1"/>
            <a:r>
              <a:rPr lang="en-US" altLang="ko-KR" dirty="0"/>
              <a:t>Cache-control</a:t>
            </a:r>
          </a:p>
          <a:p>
            <a:pPr lvl="1"/>
            <a:r>
              <a:rPr lang="en-US" altLang="ko-KR" dirty="0"/>
              <a:t>content-type : </a:t>
            </a:r>
            <a:r>
              <a:rPr lang="ko-KR" altLang="en-US" dirty="0"/>
              <a:t>컨텐츠 타입 및 문자열 인코딩</a:t>
            </a:r>
            <a:endParaRPr lang="en-US" altLang="ko-KR" dirty="0"/>
          </a:p>
          <a:p>
            <a:pPr lvl="1"/>
            <a:r>
              <a:rPr lang="en-US" altLang="ko-KR" dirty="0"/>
              <a:t>Content-language</a:t>
            </a:r>
          </a:p>
          <a:p>
            <a:pPr lvl="1"/>
            <a:r>
              <a:rPr lang="en-US" altLang="ko-KR" dirty="0"/>
              <a:t>Content-Encoding : </a:t>
            </a:r>
            <a:r>
              <a:rPr lang="ko-KR" altLang="en-US" dirty="0"/>
              <a:t>알고리즘으로 압축해서 보낸 응답 컨텐츠를 브라우저에서 해제하여 사용</a:t>
            </a:r>
            <a:r>
              <a:rPr lang="en-US" altLang="ko-KR" dirty="0"/>
              <a:t> </a:t>
            </a:r>
          </a:p>
          <a:p>
            <a:pPr marL="457200" lvl="1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	</a:t>
            </a:r>
          </a:p>
          <a:p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C7A296-B2F6-3D67-59FA-42EDBF286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Headers </a:t>
            </a:r>
            <a:r>
              <a:rPr lang="ko-KR" altLang="en-US" dirty="0"/>
              <a:t>구조 파악</a:t>
            </a:r>
          </a:p>
        </p:txBody>
      </p:sp>
    </p:spTree>
    <p:extLst>
      <p:ext uri="{BB962C8B-B14F-4D97-AF65-F5344CB8AC3E}">
        <p14:creationId xmlns:p14="http://schemas.microsoft.com/office/powerpoint/2010/main" val="32326623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3036C-B43A-6DCB-E1FE-FE8564B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주차 </a:t>
            </a:r>
            <a:r>
              <a:rPr lang="en-US" altLang="ko-KR" dirty="0"/>
              <a:t>: API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30909B-53BB-A414-EB29-F3688DC66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Request</a:t>
            </a:r>
          </a:p>
          <a:p>
            <a:pPr lvl="1"/>
            <a:r>
              <a:rPr lang="en-US" altLang="ko-KR" dirty="0"/>
              <a:t>Host</a:t>
            </a:r>
          </a:p>
          <a:p>
            <a:pPr lvl="1"/>
            <a:r>
              <a:rPr lang="en-US" altLang="ko-KR" dirty="0"/>
              <a:t>User-agent : </a:t>
            </a:r>
            <a:r>
              <a:rPr lang="ko-KR" altLang="en-US" dirty="0"/>
              <a:t>사용자가 요청을 보낸 </a:t>
            </a:r>
            <a:r>
              <a:rPr lang="en-US" altLang="ko-KR" dirty="0"/>
              <a:t>agent(</a:t>
            </a:r>
            <a:r>
              <a:rPr lang="ko-KR" altLang="en-US" dirty="0"/>
              <a:t>운영체제</a:t>
            </a:r>
            <a:r>
              <a:rPr lang="en-US" altLang="ko-KR" dirty="0"/>
              <a:t>/</a:t>
            </a:r>
            <a:r>
              <a:rPr lang="ko-KR" altLang="en-US" dirty="0"/>
              <a:t>앱</a:t>
            </a:r>
            <a:r>
              <a:rPr lang="en-US" altLang="ko-KR" dirty="0"/>
              <a:t>/</a:t>
            </a:r>
            <a:r>
              <a:rPr lang="ko-KR" altLang="en-US" dirty="0"/>
              <a:t>브라우저 외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Accept :</a:t>
            </a:r>
            <a:r>
              <a:rPr lang="ko-KR" altLang="en-US" dirty="0"/>
              <a:t> 클라이언트에서 처리 가능한 파일 형식</a:t>
            </a:r>
            <a:endParaRPr lang="en-US" altLang="ko-KR" dirty="0"/>
          </a:p>
          <a:p>
            <a:pPr lvl="1"/>
            <a:r>
              <a:rPr lang="en-US" altLang="ko-KR" dirty="0"/>
              <a:t>Cookie</a:t>
            </a:r>
          </a:p>
          <a:p>
            <a:pPr lvl="1"/>
            <a:r>
              <a:rPr lang="en-US" altLang="ko-KR" dirty="0"/>
              <a:t>Origin</a:t>
            </a:r>
          </a:p>
          <a:p>
            <a:pPr lvl="1"/>
            <a:r>
              <a:rPr lang="en-US" altLang="ko-KR" dirty="0"/>
              <a:t>If-Modified-Since</a:t>
            </a:r>
          </a:p>
          <a:p>
            <a:pPr lvl="1"/>
            <a:r>
              <a:rPr lang="en-US" altLang="ko-KR" dirty="0"/>
              <a:t>Authorization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	</a:t>
            </a:r>
          </a:p>
          <a:p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C7A296-B2F6-3D67-59FA-42EDBF286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Headers </a:t>
            </a:r>
            <a:r>
              <a:rPr lang="ko-KR" altLang="en-US" dirty="0"/>
              <a:t>구조 파악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E2BBE33-86AC-9B7C-31AA-89B29D4F6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357" y="3070650"/>
            <a:ext cx="7939483" cy="37776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895628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3036C-B43A-6DCB-E1FE-FE8564B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주차 </a:t>
            </a:r>
            <a:r>
              <a:rPr lang="en-US" altLang="ko-KR" dirty="0"/>
              <a:t>: API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30909B-53BB-A414-EB29-F3688DC66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Authorization</a:t>
            </a:r>
          </a:p>
          <a:p>
            <a:pPr lvl="1"/>
            <a:r>
              <a:rPr lang="ko-KR" altLang="en-US" dirty="0"/>
              <a:t>암호화한 정보</a:t>
            </a:r>
            <a:endParaRPr lang="en-US" altLang="ko-KR" dirty="0"/>
          </a:p>
          <a:p>
            <a:pPr lvl="1"/>
            <a:r>
              <a:rPr lang="ko-KR" altLang="en-US" dirty="0"/>
              <a:t>유형</a:t>
            </a:r>
            <a:endParaRPr lang="en-US" altLang="ko-KR" dirty="0"/>
          </a:p>
          <a:p>
            <a:pPr lvl="2"/>
            <a:r>
              <a:rPr lang="en-US" altLang="ko-KR" dirty="0"/>
              <a:t>Basic-auth : </a:t>
            </a:r>
            <a:r>
              <a:rPr lang="ko-KR" altLang="en-US" dirty="0"/>
              <a:t>로그인 유저의 </a:t>
            </a:r>
            <a:r>
              <a:rPr lang="en-US" altLang="ko-KR" dirty="0"/>
              <a:t>id/pw </a:t>
            </a:r>
            <a:r>
              <a:rPr lang="ko-KR" altLang="en-US" dirty="0"/>
              <a:t>를 헤더에 넣어 요청</a:t>
            </a:r>
            <a:endParaRPr lang="en-US" altLang="ko-KR" dirty="0"/>
          </a:p>
          <a:p>
            <a:pPr lvl="2"/>
            <a:r>
              <a:rPr lang="en-US" altLang="ko-KR" dirty="0"/>
              <a:t>Barer-token : </a:t>
            </a:r>
            <a:r>
              <a:rPr lang="ko-KR" altLang="en-US" dirty="0"/>
              <a:t>유저 생성 시 토큰을 발급하여 해당 토큰으로 인증</a:t>
            </a:r>
            <a:endParaRPr lang="en-US" altLang="ko-KR" dirty="0"/>
          </a:p>
          <a:p>
            <a:pPr lvl="2"/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	</a:t>
            </a:r>
          </a:p>
          <a:p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C7A296-B2F6-3D67-59FA-42EDBF286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Headers </a:t>
            </a:r>
            <a:r>
              <a:rPr lang="ko-KR" altLang="en-US" dirty="0"/>
              <a:t>구조 파악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E2BBE33-86AC-9B7C-31AA-89B29D4F6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873744"/>
            <a:ext cx="5965051" cy="28381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43538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3036C-B43A-6DCB-E1FE-FE8564B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주차 </a:t>
            </a:r>
            <a:r>
              <a:rPr lang="en-US" altLang="ko-KR" dirty="0"/>
              <a:t>: API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30909B-53BB-A414-EB29-F3688DC66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Response</a:t>
            </a:r>
          </a:p>
          <a:p>
            <a:pPr lvl="1"/>
            <a:r>
              <a:rPr lang="en-US" altLang="ko-KR" dirty="0"/>
              <a:t>Server</a:t>
            </a:r>
          </a:p>
          <a:p>
            <a:pPr lvl="1"/>
            <a:r>
              <a:rPr lang="en-US" altLang="ko-KR" dirty="0"/>
              <a:t>Access-Control-Allow-Origin</a:t>
            </a:r>
          </a:p>
          <a:p>
            <a:pPr lvl="2"/>
            <a:r>
              <a:rPr lang="en-US" altLang="ko-KR" dirty="0"/>
              <a:t>Access-Control-Request-Method : </a:t>
            </a:r>
            <a:r>
              <a:rPr lang="ko-KR" altLang="en-US" dirty="0"/>
              <a:t>실제로 보내려는 메서드</a:t>
            </a:r>
            <a:endParaRPr lang="en-US" altLang="ko-KR" dirty="0"/>
          </a:p>
          <a:p>
            <a:pPr lvl="2"/>
            <a:r>
              <a:rPr lang="en-US" altLang="ko-KR" dirty="0"/>
              <a:t>Access-Control-Request-Headers : </a:t>
            </a:r>
            <a:r>
              <a:rPr lang="ko-KR" altLang="en-US" dirty="0"/>
              <a:t>실제로 보내려는 헤더</a:t>
            </a:r>
            <a:endParaRPr lang="en-US" altLang="ko-KR" dirty="0"/>
          </a:p>
          <a:p>
            <a:pPr lvl="2"/>
            <a:r>
              <a:rPr lang="en-US" altLang="ko-KR" dirty="0"/>
              <a:t>Access-Control-Allow-Methods : </a:t>
            </a:r>
            <a:r>
              <a:rPr lang="ko-KR" altLang="en-US" dirty="0"/>
              <a:t>서버가 허용하는 메서드</a:t>
            </a:r>
            <a:endParaRPr lang="en-US" altLang="ko-KR" dirty="0"/>
          </a:p>
          <a:p>
            <a:pPr lvl="2"/>
            <a:r>
              <a:rPr lang="en-US" altLang="ko-KR" dirty="0"/>
              <a:t>Access-Control-Allow-Headers : </a:t>
            </a:r>
            <a:r>
              <a:rPr lang="ko-KR" altLang="en-US" dirty="0"/>
              <a:t>서버가 허용하는 헤더</a:t>
            </a:r>
            <a:endParaRPr lang="en-US" altLang="ko-KR" dirty="0"/>
          </a:p>
          <a:p>
            <a:pPr lvl="1"/>
            <a:r>
              <a:rPr lang="en-US" altLang="ko-KR" dirty="0"/>
              <a:t>Allow</a:t>
            </a:r>
          </a:p>
          <a:p>
            <a:pPr lvl="1"/>
            <a:r>
              <a:rPr lang="en-US" altLang="ko-KR" dirty="0"/>
              <a:t>Content-Deposition</a:t>
            </a:r>
          </a:p>
          <a:p>
            <a:pPr lvl="1"/>
            <a:r>
              <a:rPr lang="en-US" altLang="ko-KR" dirty="0"/>
              <a:t>Location</a:t>
            </a:r>
          </a:p>
          <a:p>
            <a:pPr lvl="1"/>
            <a:r>
              <a:rPr lang="en-US" altLang="ko-KR" dirty="0"/>
              <a:t>Content-Security-Policy</a:t>
            </a:r>
            <a:endParaRPr lang="ko-KR" altLang="en-US" dirty="0"/>
          </a:p>
          <a:p>
            <a:pPr marL="914400" lvl="2" indent="0">
              <a:buNone/>
            </a:pPr>
            <a:r>
              <a:rPr lang="en-US" altLang="ko-KR" dirty="0"/>
              <a:t>	</a:t>
            </a:r>
          </a:p>
          <a:p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C7A296-B2F6-3D67-59FA-42EDBF286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Headers </a:t>
            </a:r>
            <a:r>
              <a:rPr lang="ko-KR" altLang="en-US" dirty="0"/>
              <a:t>구조 파악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B0EEFB7-0A91-EB8C-57CA-069BAE1BC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115" y="501503"/>
            <a:ext cx="9618835" cy="22020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177994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3036C-B43A-6DCB-E1FE-FE8564B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주차 </a:t>
            </a:r>
            <a:r>
              <a:rPr lang="en-US" altLang="ko-KR" dirty="0"/>
              <a:t>: API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30909B-53BB-A414-EB29-F3688DC66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유형</a:t>
            </a:r>
            <a:endParaRPr lang="en-US" altLang="ko-KR" dirty="0"/>
          </a:p>
          <a:p>
            <a:pPr lvl="1"/>
            <a:r>
              <a:rPr lang="en-US" altLang="ko-KR" dirty="0"/>
              <a:t>Entity : payload</a:t>
            </a:r>
            <a:r>
              <a:rPr lang="ko-KR" altLang="en-US" dirty="0"/>
              <a:t>에 대한 메타정보 </a:t>
            </a:r>
            <a:r>
              <a:rPr lang="en-US" altLang="ko-KR" dirty="0"/>
              <a:t>	</a:t>
            </a:r>
          </a:p>
          <a:p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C7A296-B2F6-3D67-59FA-42EDBF286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Headers </a:t>
            </a:r>
            <a:r>
              <a:rPr lang="ko-KR" altLang="en-US" dirty="0"/>
              <a:t>구조 파악</a:t>
            </a:r>
          </a:p>
        </p:txBody>
      </p:sp>
    </p:spTree>
    <p:extLst>
      <p:ext uri="{BB962C8B-B14F-4D97-AF65-F5344CB8AC3E}">
        <p14:creationId xmlns:p14="http://schemas.microsoft.com/office/powerpoint/2010/main" val="29939533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3036C-B43A-6DCB-E1FE-FE8564BC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주차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30909B-53BB-A414-EB29-F3688DC66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JPA</a:t>
            </a:r>
            <a:r>
              <a:rPr lang="ko-KR" altLang="en-US" dirty="0"/>
              <a:t>에서 사용할 수 있는 쿼리</a:t>
            </a:r>
            <a:r>
              <a:rPr lang="en-US" altLang="ko-KR" dirty="0"/>
              <a:t>,</a:t>
            </a:r>
            <a:r>
              <a:rPr lang="ko-KR" altLang="en-US" dirty="0"/>
              <a:t>없는 쿼리</a:t>
            </a:r>
            <a:r>
              <a:rPr lang="en-US" altLang="ko-KR" dirty="0"/>
              <a:t>(WITH </a:t>
            </a:r>
            <a:r>
              <a:rPr lang="ko-KR" altLang="en-US" dirty="0"/>
              <a:t>외</a:t>
            </a:r>
            <a:r>
              <a:rPr lang="en-US" altLang="ko-KR" dirty="0"/>
              <a:t>) </a:t>
            </a:r>
            <a:r>
              <a:rPr lang="ko-KR" altLang="en-US" dirty="0"/>
              <a:t>조사</a:t>
            </a:r>
            <a:endParaRPr lang="en-US" altLang="ko-KR" dirty="0"/>
          </a:p>
          <a:p>
            <a:pPr lvl="1"/>
            <a:r>
              <a:rPr lang="en-US" altLang="ko-KR" dirty="0"/>
              <a:t>JPA </a:t>
            </a:r>
            <a:r>
              <a:rPr lang="ko-KR" altLang="en-US" dirty="0"/>
              <a:t>기본 쿼리 형태는 </a:t>
            </a:r>
            <a:r>
              <a:rPr lang="en-US" altLang="ko-KR" dirty="0"/>
              <a:t>SELECT {} FROM {} WHERE {} </a:t>
            </a:r>
            <a:r>
              <a:rPr lang="ko-KR" altLang="en-US" dirty="0"/>
              <a:t>이며</a:t>
            </a:r>
            <a:r>
              <a:rPr lang="en-US" altLang="ko-KR" dirty="0"/>
              <a:t>, distinct, like </a:t>
            </a:r>
            <a:r>
              <a:rPr lang="ko-KR" altLang="en-US" dirty="0"/>
              <a:t>등 기본 쿼리에 쿼리 결과를 구체화하는 형태임</a:t>
            </a:r>
            <a:r>
              <a:rPr lang="en-US" altLang="ko-KR" dirty="0"/>
              <a:t>. </a:t>
            </a:r>
          </a:p>
          <a:p>
            <a:pPr lvl="1"/>
            <a:r>
              <a:rPr lang="ko-KR" altLang="en-US" dirty="0"/>
              <a:t>사용 가능 </a:t>
            </a:r>
            <a:r>
              <a:rPr lang="en-US" altLang="ko-KR" dirty="0"/>
              <a:t>method naming convention : https://docs.spring.io/spring-data/jpa/reference/jpa/query-methods.html</a:t>
            </a:r>
          </a:p>
          <a:p>
            <a:pPr lvl="1"/>
            <a:r>
              <a:rPr lang="en-US" altLang="ko-KR" dirty="0"/>
              <a:t>With, join </a:t>
            </a:r>
            <a:r>
              <a:rPr lang="ko-KR" altLang="en-US" dirty="0"/>
              <a:t>등 복합 쿼리의 형태는 기본 기능으로 사용할 수 없음</a:t>
            </a:r>
            <a:endParaRPr lang="en-US" altLang="ko-KR" dirty="0"/>
          </a:p>
          <a:p>
            <a:pPr lvl="1"/>
            <a:r>
              <a:rPr lang="en-US" altLang="ko-KR" dirty="0"/>
              <a:t>@Query annotation </a:t>
            </a:r>
            <a:r>
              <a:rPr lang="ko-KR" altLang="en-US" dirty="0"/>
              <a:t>을 사용하여 </a:t>
            </a:r>
            <a:r>
              <a:rPr lang="en-US" altLang="ko-KR" dirty="0"/>
              <a:t>string </a:t>
            </a:r>
            <a:r>
              <a:rPr lang="ko-KR" altLang="en-US" dirty="0"/>
              <a:t>형태로 쿼리문을 직접 작성하여 사용할 수 있으나</a:t>
            </a:r>
            <a:r>
              <a:rPr lang="en-US" altLang="ko-KR" dirty="0"/>
              <a:t>, java </a:t>
            </a:r>
            <a:r>
              <a:rPr lang="ko-KR" altLang="en-US" dirty="0"/>
              <a:t>문법이므로 </a:t>
            </a:r>
            <a:r>
              <a:rPr lang="en-US" altLang="ko-KR" dirty="0"/>
              <a:t>DB </a:t>
            </a:r>
            <a:r>
              <a:rPr lang="ko-KR" altLang="en-US" dirty="0"/>
              <a:t>쿼리를 모두 사용할 수 없음  </a:t>
            </a:r>
            <a:endParaRPr lang="en-US" altLang="ko-KR" dirty="0"/>
          </a:p>
          <a:p>
            <a:pPr lvl="1"/>
            <a:r>
              <a:rPr lang="en-US" altLang="ko-KR" dirty="0"/>
              <a:t>Native</a:t>
            </a:r>
            <a:r>
              <a:rPr lang="ko-KR" altLang="en-US" dirty="0"/>
              <a:t> </a:t>
            </a:r>
            <a:r>
              <a:rPr lang="en-US" altLang="ko-KR" dirty="0"/>
              <a:t>query</a:t>
            </a:r>
            <a:r>
              <a:rPr lang="ko-KR" altLang="en-US" dirty="0"/>
              <a:t> 사용 시 </a:t>
            </a:r>
            <a:r>
              <a:rPr lang="en-US" altLang="ko-KR" dirty="0"/>
              <a:t>DB </a:t>
            </a:r>
            <a:r>
              <a:rPr lang="ko-KR" altLang="en-US" dirty="0"/>
              <a:t>쿼리 형태로 사용 </a:t>
            </a:r>
            <a:endParaRPr lang="en-US" altLang="ko-KR" dirty="0"/>
          </a:p>
          <a:p>
            <a:r>
              <a:rPr lang="en-US" altLang="ko-KR" dirty="0"/>
              <a:t>JPA </a:t>
            </a:r>
            <a:r>
              <a:rPr lang="ko-KR" altLang="en-US" dirty="0"/>
              <a:t>외 쿼리 사용 가능한 프레임워크 조사 </a:t>
            </a:r>
            <a:endParaRPr lang="en-US" altLang="ko-KR" dirty="0"/>
          </a:p>
          <a:p>
            <a:pPr lvl="1"/>
            <a:r>
              <a:rPr lang="ko-KR" altLang="en-US" dirty="0"/>
              <a:t>다른 </a:t>
            </a:r>
            <a:r>
              <a:rPr lang="en-US" altLang="ko-KR" dirty="0"/>
              <a:t>ORM : </a:t>
            </a:r>
            <a:r>
              <a:rPr lang="en-US" altLang="ko-KR" dirty="0" err="1"/>
              <a:t>MyBatis</a:t>
            </a:r>
            <a:endParaRPr lang="en-US" altLang="ko-KR" dirty="0"/>
          </a:p>
          <a:p>
            <a:pPr lvl="1"/>
            <a:r>
              <a:rPr lang="en-US" altLang="ko-KR" dirty="0"/>
              <a:t>JPA </a:t>
            </a:r>
            <a:r>
              <a:rPr lang="ko-KR" altLang="en-US" dirty="0"/>
              <a:t>쿼리 보완 </a:t>
            </a:r>
            <a:r>
              <a:rPr lang="en-US" altLang="ko-KR" dirty="0"/>
              <a:t>: </a:t>
            </a:r>
            <a:r>
              <a:rPr lang="en-US" altLang="ko-KR" dirty="0" err="1"/>
              <a:t>QueryDsl</a:t>
            </a:r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C7A296-B2F6-3D67-59FA-42EDBF286B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</a:t>
            </a:r>
            <a:r>
              <a:rPr lang="ko-KR" altLang="en-US" dirty="0"/>
              <a:t>종합 실습</a:t>
            </a:r>
          </a:p>
        </p:txBody>
      </p:sp>
    </p:spTree>
    <p:extLst>
      <p:ext uri="{BB962C8B-B14F-4D97-AF65-F5344CB8AC3E}">
        <p14:creationId xmlns:p14="http://schemas.microsoft.com/office/powerpoint/2010/main" val="31354075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4F72C-6AA6-D2F4-1F0B-AAADF03BA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7DE5CC-3E61-7FB1-CBDE-BAEB3B65C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주차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8772715-6CC7-E755-E1E5-24FC2F310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목적 </a:t>
            </a:r>
            <a:r>
              <a:rPr lang="en-US" altLang="ko-KR" dirty="0"/>
              <a:t>: </a:t>
            </a:r>
            <a:r>
              <a:rPr lang="ko-KR" altLang="en-US" dirty="0"/>
              <a:t>복잡한 쿼리 사용 </a:t>
            </a:r>
            <a:endParaRPr lang="en-US" altLang="ko-KR" dirty="0"/>
          </a:p>
          <a:p>
            <a:r>
              <a:rPr lang="ko-KR" altLang="en-US" dirty="0"/>
              <a:t>주제 </a:t>
            </a:r>
            <a:r>
              <a:rPr lang="en-US" altLang="ko-KR" dirty="0"/>
              <a:t>: </a:t>
            </a:r>
            <a:r>
              <a:rPr lang="ko-KR" altLang="en-US" dirty="0"/>
              <a:t>시작정보관리시스템</a:t>
            </a:r>
            <a:r>
              <a:rPr lang="en-US" altLang="ko-KR" dirty="0"/>
              <a:t> </a:t>
            </a:r>
            <a:r>
              <a:rPr lang="ko-KR" altLang="en-US" dirty="0"/>
              <a:t>프로젝트</a:t>
            </a:r>
            <a:r>
              <a:rPr lang="en-US" altLang="ko-KR" dirty="0"/>
              <a:t>, APQP </a:t>
            </a:r>
            <a:r>
              <a:rPr lang="ko-KR" altLang="en-US" dirty="0"/>
              <a:t>관리를</a:t>
            </a:r>
            <a:r>
              <a:rPr lang="en-US" altLang="ko-KR" dirty="0"/>
              <a:t> API</a:t>
            </a:r>
            <a:r>
              <a:rPr lang="ko-KR" altLang="en-US" dirty="0"/>
              <a:t>로 구현</a:t>
            </a:r>
            <a:endParaRPr lang="en-US" altLang="ko-KR" dirty="0"/>
          </a:p>
          <a:p>
            <a:r>
              <a:rPr lang="ko-KR" altLang="en-US" dirty="0"/>
              <a:t>기능 </a:t>
            </a:r>
            <a:r>
              <a:rPr lang="en-US" altLang="ko-KR" dirty="0"/>
              <a:t>: </a:t>
            </a:r>
            <a:r>
              <a:rPr lang="ko-KR" altLang="en-US" dirty="0"/>
              <a:t>프로젝트 </a:t>
            </a:r>
            <a:r>
              <a:rPr lang="en-US" altLang="ko-KR" dirty="0"/>
              <a:t>CRU, APQP CRUD </a:t>
            </a:r>
          </a:p>
          <a:p>
            <a:r>
              <a:rPr lang="ko-KR" altLang="en-US" dirty="0"/>
              <a:t>테이블 </a:t>
            </a:r>
            <a:r>
              <a:rPr lang="en-US" altLang="ko-KR" dirty="0"/>
              <a:t>: </a:t>
            </a:r>
            <a:r>
              <a:rPr lang="ko-KR" altLang="en-US" dirty="0"/>
              <a:t>프로젝트</a:t>
            </a:r>
            <a:r>
              <a:rPr lang="en-US" altLang="ko-KR" dirty="0"/>
              <a:t>, APQP, </a:t>
            </a:r>
            <a:r>
              <a:rPr lang="ko-KR" altLang="en-US" dirty="0"/>
              <a:t>사용자   </a:t>
            </a:r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BA471E9-BCC0-1DEF-5DF8-33B0E83F0A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: </a:t>
            </a:r>
            <a:r>
              <a:rPr lang="ko-KR" altLang="en-US" dirty="0"/>
              <a:t>종합 실습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72B3ABA-0CBD-805B-579F-9D273016F3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758515"/>
              </p:ext>
            </p:extLst>
          </p:nvPr>
        </p:nvGraphicFramePr>
        <p:xfrm>
          <a:off x="1166030" y="3582731"/>
          <a:ext cx="1768889" cy="326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8889">
                  <a:extLst>
                    <a:ext uri="{9D8B030D-6E8A-4147-A177-3AD203B41FA5}">
                      <a16:colId xmlns:a16="http://schemas.microsoft.com/office/drawing/2014/main" val="4094867038"/>
                    </a:ext>
                  </a:extLst>
                </a:gridCol>
              </a:tblGrid>
              <a:tr h="4079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프로젝트</a:t>
                      </a:r>
                    </a:p>
                  </a:txBody>
                  <a:tcPr marL="19899" marR="19899" marT="50292" marB="50292"/>
                </a:tc>
                <a:extLst>
                  <a:ext uri="{0D108BD9-81ED-4DB2-BD59-A6C34878D82A}">
                    <a16:rowId xmlns:a16="http://schemas.microsoft.com/office/drawing/2014/main" val="1276217851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ID</a:t>
                      </a:r>
                      <a:endParaRPr lang="ko-KR" altLang="en-US" sz="1600" dirty="0"/>
                    </a:p>
                  </a:txBody>
                  <a:tcPr marL="19899" marR="19899" marT="50292" marB="50292"/>
                </a:tc>
                <a:extLst>
                  <a:ext uri="{0D108BD9-81ED-4DB2-BD59-A6C34878D82A}">
                    <a16:rowId xmlns:a16="http://schemas.microsoft.com/office/drawing/2014/main" val="2667479159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프로젝트 코드</a:t>
                      </a:r>
                    </a:p>
                  </a:txBody>
                  <a:tcPr marL="19899" marR="19899" marT="50292" marB="50292"/>
                </a:tc>
                <a:extLst>
                  <a:ext uri="{0D108BD9-81ED-4DB2-BD59-A6C34878D82A}">
                    <a16:rowId xmlns:a16="http://schemas.microsoft.com/office/drawing/2014/main" val="2502060349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프로젝트 명</a:t>
                      </a:r>
                    </a:p>
                  </a:txBody>
                  <a:tcPr marL="19899" marR="19899" marT="50292" marB="50292"/>
                </a:tc>
                <a:extLst>
                  <a:ext uri="{0D108BD9-81ED-4DB2-BD59-A6C34878D82A}">
                    <a16:rowId xmlns:a16="http://schemas.microsoft.com/office/drawing/2014/main" val="731666387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등록자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사용자 </a:t>
                      </a:r>
                      <a:r>
                        <a:rPr lang="en-US" altLang="ko-KR" sz="1600" dirty="0"/>
                        <a:t>ID)</a:t>
                      </a:r>
                      <a:endParaRPr lang="ko-KR" altLang="en-US" sz="1600" dirty="0"/>
                    </a:p>
                  </a:txBody>
                  <a:tcPr marL="19899" marR="19899" marT="50292" marB="50292"/>
                </a:tc>
                <a:extLst>
                  <a:ext uri="{0D108BD9-81ED-4DB2-BD59-A6C34878D82A}">
                    <a16:rowId xmlns:a16="http://schemas.microsoft.com/office/drawing/2014/main" val="3950793137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등록일</a:t>
                      </a:r>
                    </a:p>
                  </a:txBody>
                  <a:tcPr marL="19899" marR="19899" marT="50292" marB="50292"/>
                </a:tc>
                <a:extLst>
                  <a:ext uri="{0D108BD9-81ED-4DB2-BD59-A6C34878D82A}">
                    <a16:rowId xmlns:a16="http://schemas.microsoft.com/office/drawing/2014/main" val="3815125620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진행상태</a:t>
                      </a:r>
                    </a:p>
                  </a:txBody>
                  <a:tcPr marL="19899" marR="19899" marT="50292" marB="50292"/>
                </a:tc>
                <a:extLst>
                  <a:ext uri="{0D108BD9-81ED-4DB2-BD59-A6C34878D82A}">
                    <a16:rowId xmlns:a16="http://schemas.microsoft.com/office/drawing/2014/main" val="359354835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변경일</a:t>
                      </a:r>
                    </a:p>
                  </a:txBody>
                  <a:tcPr marL="19899" marR="19899" marT="50292" marB="50292"/>
                </a:tc>
                <a:extLst>
                  <a:ext uri="{0D108BD9-81ED-4DB2-BD59-A6C34878D82A}">
                    <a16:rowId xmlns:a16="http://schemas.microsoft.com/office/drawing/2014/main" val="390064776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5CE6B68-A913-A06B-FB81-F4E787DD7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489503"/>
              </p:ext>
            </p:extLst>
          </p:nvPr>
        </p:nvGraphicFramePr>
        <p:xfrm>
          <a:off x="3442793" y="3582731"/>
          <a:ext cx="1768889" cy="2855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8889">
                  <a:extLst>
                    <a:ext uri="{9D8B030D-6E8A-4147-A177-3AD203B41FA5}">
                      <a16:colId xmlns:a16="http://schemas.microsoft.com/office/drawing/2014/main" val="4094867038"/>
                    </a:ext>
                  </a:extLst>
                </a:gridCol>
              </a:tblGrid>
              <a:tr h="4079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APQP</a:t>
                      </a:r>
                      <a:endParaRPr lang="ko-KR" altLang="en-US" sz="1600" dirty="0"/>
                    </a:p>
                  </a:txBody>
                  <a:tcPr marL="19899" marR="19899" marT="50292" marB="50292"/>
                </a:tc>
                <a:extLst>
                  <a:ext uri="{0D108BD9-81ED-4DB2-BD59-A6C34878D82A}">
                    <a16:rowId xmlns:a16="http://schemas.microsoft.com/office/drawing/2014/main" val="1276217851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ID</a:t>
                      </a:r>
                      <a:endParaRPr lang="ko-KR" altLang="en-US" sz="1600" dirty="0"/>
                    </a:p>
                  </a:txBody>
                  <a:tcPr marL="19899" marR="19899" marT="50292" marB="50292"/>
                </a:tc>
                <a:extLst>
                  <a:ext uri="{0D108BD9-81ED-4DB2-BD59-A6C34878D82A}">
                    <a16:rowId xmlns:a16="http://schemas.microsoft.com/office/drawing/2014/main" val="652158745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프로젝트 </a:t>
                      </a:r>
                      <a:r>
                        <a:rPr lang="en-US" altLang="ko-KR" sz="1600" dirty="0"/>
                        <a:t>ID</a:t>
                      </a:r>
                      <a:endParaRPr lang="ko-KR" altLang="en-US" sz="1600" dirty="0"/>
                    </a:p>
                  </a:txBody>
                  <a:tcPr marL="19899" marR="19899" marT="50292" marB="50292"/>
                </a:tc>
                <a:extLst>
                  <a:ext uri="{0D108BD9-81ED-4DB2-BD59-A6C34878D82A}">
                    <a16:rowId xmlns:a16="http://schemas.microsoft.com/office/drawing/2014/main" val="1272589410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부문</a:t>
                      </a:r>
                    </a:p>
                  </a:txBody>
                  <a:tcPr marL="19899" marR="19899" marT="50292" marB="50292"/>
                </a:tc>
                <a:extLst>
                  <a:ext uri="{0D108BD9-81ED-4DB2-BD59-A6C34878D82A}">
                    <a16:rowId xmlns:a16="http://schemas.microsoft.com/office/drawing/2014/main" val="4003591451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사용자 </a:t>
                      </a:r>
                      <a:r>
                        <a:rPr lang="en-US" altLang="ko-KR" sz="1600" dirty="0"/>
                        <a:t>ID</a:t>
                      </a:r>
                      <a:endParaRPr lang="ko-KR" altLang="en-US" sz="1600" dirty="0"/>
                    </a:p>
                  </a:txBody>
                  <a:tcPr marL="19899" marR="19899" marT="50292" marB="50292"/>
                </a:tc>
                <a:extLst>
                  <a:ext uri="{0D108BD9-81ED-4DB2-BD59-A6C34878D82A}">
                    <a16:rowId xmlns:a16="http://schemas.microsoft.com/office/drawing/2014/main" val="76893226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변경일</a:t>
                      </a:r>
                    </a:p>
                  </a:txBody>
                  <a:tcPr marL="19899" marR="19899" marT="50292" marB="50292"/>
                </a:tc>
                <a:extLst>
                  <a:ext uri="{0D108BD9-81ED-4DB2-BD59-A6C34878D82A}">
                    <a16:rowId xmlns:a16="http://schemas.microsoft.com/office/drawing/2014/main" val="994285546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필수 여부</a:t>
                      </a:r>
                    </a:p>
                  </a:txBody>
                  <a:tcPr marL="19899" marR="19899" marT="50292" marB="50292"/>
                </a:tc>
                <a:extLst>
                  <a:ext uri="{0D108BD9-81ED-4DB2-BD59-A6C34878D82A}">
                    <a16:rowId xmlns:a16="http://schemas.microsoft.com/office/drawing/2014/main" val="205003558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76CCD43-A498-0062-D862-7B0196B86D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699906"/>
              </p:ext>
            </p:extLst>
          </p:nvPr>
        </p:nvGraphicFramePr>
        <p:xfrm>
          <a:off x="5793447" y="3582731"/>
          <a:ext cx="1768889" cy="2855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8889">
                  <a:extLst>
                    <a:ext uri="{9D8B030D-6E8A-4147-A177-3AD203B41FA5}">
                      <a16:colId xmlns:a16="http://schemas.microsoft.com/office/drawing/2014/main" val="4094867038"/>
                    </a:ext>
                  </a:extLst>
                </a:gridCol>
              </a:tblGrid>
              <a:tr h="4079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사용자</a:t>
                      </a:r>
                    </a:p>
                  </a:txBody>
                  <a:tcPr marL="19899" marR="19899" marT="50292" marB="50292"/>
                </a:tc>
                <a:extLst>
                  <a:ext uri="{0D108BD9-81ED-4DB2-BD59-A6C34878D82A}">
                    <a16:rowId xmlns:a16="http://schemas.microsoft.com/office/drawing/2014/main" val="1276217851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ID</a:t>
                      </a:r>
                      <a:endParaRPr lang="ko-KR" altLang="en-US" sz="1600" dirty="0"/>
                    </a:p>
                  </a:txBody>
                  <a:tcPr marL="19899" marR="19899" marT="50292" marB="50292"/>
                </a:tc>
                <a:extLst>
                  <a:ext uri="{0D108BD9-81ED-4DB2-BD59-A6C34878D82A}">
                    <a16:rowId xmlns:a16="http://schemas.microsoft.com/office/drawing/2014/main" val="652158745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로그인 </a:t>
                      </a:r>
                      <a:r>
                        <a:rPr lang="en-US" altLang="ko-KR" sz="1600" dirty="0"/>
                        <a:t>id</a:t>
                      </a:r>
                      <a:endParaRPr lang="ko-KR" altLang="en-US" sz="1600" dirty="0"/>
                    </a:p>
                  </a:txBody>
                  <a:tcPr marL="19899" marR="19899" marT="50292" marB="50292"/>
                </a:tc>
                <a:extLst>
                  <a:ext uri="{0D108BD9-81ED-4DB2-BD59-A6C34878D82A}">
                    <a16:rowId xmlns:a16="http://schemas.microsoft.com/office/drawing/2014/main" val="1272589410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사용자 명</a:t>
                      </a:r>
                    </a:p>
                  </a:txBody>
                  <a:tcPr marL="19899" marR="19899" marT="50292" marB="50292"/>
                </a:tc>
                <a:extLst>
                  <a:ext uri="{0D108BD9-81ED-4DB2-BD59-A6C34878D82A}">
                    <a16:rowId xmlns:a16="http://schemas.microsoft.com/office/drawing/2014/main" val="3011758056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부서</a:t>
                      </a:r>
                    </a:p>
                  </a:txBody>
                  <a:tcPr marL="19899" marR="19899" marT="50292" marB="50292"/>
                </a:tc>
                <a:extLst>
                  <a:ext uri="{0D108BD9-81ED-4DB2-BD59-A6C34878D82A}">
                    <a16:rowId xmlns:a16="http://schemas.microsoft.com/office/drawing/2014/main" val="3295184694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직위</a:t>
                      </a:r>
                    </a:p>
                  </a:txBody>
                  <a:tcPr marL="19899" marR="19899" marT="50292" marB="50292"/>
                </a:tc>
                <a:extLst>
                  <a:ext uri="{0D108BD9-81ED-4DB2-BD59-A6C34878D82A}">
                    <a16:rowId xmlns:a16="http://schemas.microsoft.com/office/drawing/2014/main" val="4117063952"/>
                  </a:ext>
                </a:extLst>
              </a:tr>
              <a:tr h="4079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사용 여부</a:t>
                      </a:r>
                    </a:p>
                  </a:txBody>
                  <a:tcPr marL="19899" marR="19899" marT="50292" marB="50292"/>
                </a:tc>
                <a:extLst>
                  <a:ext uri="{0D108BD9-81ED-4DB2-BD59-A6C34878D82A}">
                    <a16:rowId xmlns:a16="http://schemas.microsoft.com/office/drawing/2014/main" val="3462207818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BAAF36B7-BBA5-0644-DCAB-88E461C9700D}"/>
              </a:ext>
            </a:extLst>
          </p:cNvPr>
          <p:cNvSpPr/>
          <p:nvPr/>
        </p:nvSpPr>
        <p:spPr>
          <a:xfrm>
            <a:off x="1166030" y="3999345"/>
            <a:ext cx="1768889" cy="36945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882B899-975F-FAF0-A7CA-D26004C36A7F}"/>
              </a:ext>
            </a:extLst>
          </p:cNvPr>
          <p:cNvSpPr/>
          <p:nvPr/>
        </p:nvSpPr>
        <p:spPr>
          <a:xfrm>
            <a:off x="3442793" y="4382655"/>
            <a:ext cx="1768889" cy="36945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DBE356D-5D0D-1EE8-5207-8C5247B04F70}"/>
              </a:ext>
            </a:extLst>
          </p:cNvPr>
          <p:cNvSpPr/>
          <p:nvPr/>
        </p:nvSpPr>
        <p:spPr>
          <a:xfrm>
            <a:off x="5793447" y="4019889"/>
            <a:ext cx="1768889" cy="36945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263ED97-189D-1C46-E9DD-B36F13B2F8D5}"/>
              </a:ext>
            </a:extLst>
          </p:cNvPr>
          <p:cNvSpPr/>
          <p:nvPr/>
        </p:nvSpPr>
        <p:spPr>
          <a:xfrm>
            <a:off x="3468162" y="5219045"/>
            <a:ext cx="1768889" cy="36945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7E61DEB-E412-1EA4-8A9A-87AADB6EC3E2}"/>
              </a:ext>
            </a:extLst>
          </p:cNvPr>
          <p:cNvSpPr/>
          <p:nvPr/>
        </p:nvSpPr>
        <p:spPr>
          <a:xfrm>
            <a:off x="1166029" y="5219045"/>
            <a:ext cx="1768889" cy="36945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0A6E3287-1D46-E869-2005-F6509CA07E92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2934919" y="4184073"/>
            <a:ext cx="507874" cy="383310"/>
          </a:xfrm>
          <a:prstGeom prst="bentConnector3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A7DE9F54-B53D-E7C3-F226-88FD184EC874}"/>
              </a:ext>
            </a:extLst>
          </p:cNvPr>
          <p:cNvCxnSpPr>
            <a:cxnSpLocks/>
            <a:stCxn id="12" idx="2"/>
            <a:endCxn id="10" idx="1"/>
          </p:cNvCxnSpPr>
          <p:nvPr/>
        </p:nvCxnSpPr>
        <p:spPr>
          <a:xfrm rot="5400000" flipH="1" flipV="1">
            <a:off x="3230018" y="3025072"/>
            <a:ext cx="1383883" cy="3742973"/>
          </a:xfrm>
          <a:prstGeom prst="bentConnector4">
            <a:avLst>
              <a:gd name="adj1" fmla="val -5840"/>
              <a:gd name="adj2" fmla="val 90440"/>
            </a:avLst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86BEABB5-45BC-DA56-6A5D-FF367067A59C}"/>
              </a:ext>
            </a:extLst>
          </p:cNvPr>
          <p:cNvCxnSpPr>
            <a:cxnSpLocks/>
            <a:stCxn id="11" idx="3"/>
            <a:endCxn id="10" idx="2"/>
          </p:cNvCxnSpPr>
          <p:nvPr/>
        </p:nvCxnSpPr>
        <p:spPr>
          <a:xfrm flipV="1">
            <a:off x="5237051" y="4389344"/>
            <a:ext cx="1440841" cy="1014429"/>
          </a:xfrm>
          <a:prstGeom prst="bentConnector2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21218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2947E1-68DB-C178-F067-F454DA2EF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EC50B2-D694-4330-2CAE-87A28DC25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A3B838-E255-2709-0131-24AA3ECE77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테이블 릴레이션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D6B2728-8AC3-C8C7-CED1-4469E5891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03" y="1802922"/>
            <a:ext cx="5912397" cy="244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1660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DA031-F716-F167-9FFE-7BDB84D16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C004A-6C5B-56CE-2B69-51B6D0008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DEDDE5-4021-9F80-2DAC-38D477F85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11E265D-B78A-7C7F-F6DF-EE4E66B418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프로젝트 </a:t>
            </a:r>
            <a:r>
              <a:rPr lang="en-US" altLang="ko-KR" dirty="0"/>
              <a:t>CRU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9915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36715</TotalTime>
  <Words>1629</Words>
  <Application>Microsoft Office PowerPoint</Application>
  <PresentationFormat>와이드스크린</PresentationFormat>
  <Paragraphs>396</Paragraphs>
  <Slides>42</Slides>
  <Notes>34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45" baseType="lpstr">
      <vt:lpstr>맑은 고딕</vt:lpstr>
      <vt:lpstr>Arial</vt:lpstr>
      <vt:lpstr>Office 테마</vt:lpstr>
      <vt:lpstr>JAVA 프로젝트</vt:lpstr>
      <vt:lpstr>프로젝트 주제&amp;사용 데이터</vt:lpstr>
      <vt:lpstr>프로젝트 대상</vt:lpstr>
      <vt:lpstr>주차별 진행</vt:lpstr>
      <vt:lpstr>1주차</vt:lpstr>
      <vt:lpstr>1주차</vt:lpstr>
      <vt:lpstr>1주차</vt:lpstr>
      <vt:lpstr>1주차</vt:lpstr>
      <vt:lpstr>1주차</vt:lpstr>
      <vt:lpstr>1주차</vt:lpstr>
      <vt:lpstr>2주차</vt:lpstr>
      <vt:lpstr>2주차</vt:lpstr>
      <vt:lpstr>2주차</vt:lpstr>
      <vt:lpstr>2주차</vt:lpstr>
      <vt:lpstr>2주차</vt:lpstr>
      <vt:lpstr>2주차</vt:lpstr>
      <vt:lpstr>2주차</vt:lpstr>
      <vt:lpstr>2주차</vt:lpstr>
      <vt:lpstr>2주차</vt:lpstr>
      <vt:lpstr>2주차</vt:lpstr>
      <vt:lpstr>2주차</vt:lpstr>
      <vt:lpstr>3주차</vt:lpstr>
      <vt:lpstr>3주차 : API</vt:lpstr>
      <vt:lpstr>3주차 : API</vt:lpstr>
      <vt:lpstr>3주차 : API</vt:lpstr>
      <vt:lpstr>3주차 : API</vt:lpstr>
      <vt:lpstr>3주차 : API</vt:lpstr>
      <vt:lpstr>3주차 : API</vt:lpstr>
      <vt:lpstr>3주차 : API</vt:lpstr>
      <vt:lpstr>3주차 : API</vt:lpstr>
      <vt:lpstr>3주차 : API</vt:lpstr>
      <vt:lpstr>3주차 : API</vt:lpstr>
      <vt:lpstr>3주차 : API</vt:lpstr>
      <vt:lpstr>3주차 : API</vt:lpstr>
      <vt:lpstr>3주차 : API</vt:lpstr>
      <vt:lpstr>3주차 : API</vt:lpstr>
      <vt:lpstr>3주차 : API</vt:lpstr>
      <vt:lpstr>3주차 : API</vt:lpstr>
      <vt:lpstr>4주차</vt:lpstr>
      <vt:lpstr>4주차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최지윤</dc:creator>
  <cp:lastModifiedBy>최지윤</cp:lastModifiedBy>
  <cp:revision>35</cp:revision>
  <dcterms:created xsi:type="dcterms:W3CDTF">2024-08-06T00:31:58Z</dcterms:created>
  <dcterms:modified xsi:type="dcterms:W3CDTF">2025-01-08T11:41:10Z</dcterms:modified>
</cp:coreProperties>
</file>